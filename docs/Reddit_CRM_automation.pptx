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one sentence: a publisher takes the task from CRM and posts it by hand, and a lot of that work dies. This tool does the posting. New accounts warm up before they post. A learning model remembers what Reddit removed. Do not explain why Reddit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assign the work in CRM. The publisher posts it. Then the account is banned, or Reddit takes the comment down, or the post never stays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publisher cannot read every community’s rules, judge the thread, and also know which wording Reddit has been removing. The same mistakes repeat, and the ban rate stays high.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copy still comes from us. The tool takes the account, the community, the timing, and the check afterwards. Warm-up and learning are the two pieces a publisher cannot do consistently by hand.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three stages left to right. First 7 days, browse only. After that, comments, two per 48 hours, and that is how karma grows. A post waits until karma is 10, then one per 48 hours. One new community join per sitting. If age cannot be read, a low-karma account stays in browse-only until it can. This is the direct answer to new accounts posting too soon and getting banned.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rows. A sitting is 5 to 10 minutes and mostly reading. A comment counts only when it is visible on the thread. If we supply the text, it publishes that text. If the comment text is empty, a model drafts it from the thread and the community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side is what it looks at. Right side is what it is allowed to decide. It does not pick which browser opens, and it does not decide how long to scroll. Say reinforcement learning once, then stay in plain words: it scores a choice, and the score comes from what Reddit did.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beats. It chooses. It scores what just happened. On a later run it checks whether Reddit kept the comment, and that later result is the real lesson. A comment younger than about 20 minutes is left for the next run. A small share of choices stays random, so it can still try a new tone. The model is saved after the run and picked up next time. From 27 August to 1 October that score went from 0 of 10 to 88 percent. The results slide has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88% is the model’s score, not a promise that 88% of comments are still live. First log 27 August: 0 of 10, reward minus 1. Latest 1 October: 778 of 882, 88%, reward plus 1.28. Graded checks 974 of 1,138, 86%, reward plus 1.90. 48 comments across 100 sittings. Two already-banned accounts on 26 September were reported and not run. 1 October: 4 accounts, 0 banned. Posts: 1 live, 20 failed. Do not quote the old removed-comment table. Those rows are score 0, which the code treats as a blocked check, not a real removal.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company slide. Do not promise zero bans. The gain is that the causes we can see are enforced, and the model gets better the longer Klarivo runs it. A spreadsheet process does not compound.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futures, in order. First the CRM connection, because that is what removes the handoff. Then status back, so the team sees the result where the task was created. Then warm-up as an account status, so coordinators stop assigning client work to an account that is still in its first week. Then a client report. Then Monitor, so a thread that stayed up can be checked against citations. Last, the same shape for reviews, listicles, and mentions. Reddit first, because the runner is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and stop. Approve 30 days, one pod, CRM as the source, warm-up and caps left on, and a readout of ban rate, removal rate, and tasks that stayed live. If those move, this is the default, and every later task trains the model. If he asks what you need: that approval, and permission to connect the queue to CRM.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058400" cy="320040"/>
          </a:xfrm>
          <a:prstGeom prst="rect">
            <a:avLst/>
          </a:prstGeom>
          <a:noFill/>
        </p:spPr>
        <p:txBody>
          <a:bodyPr wrap="square"/>
          <a:lstStyle/>
          <a:p>
            <a:pPr algn="l"/>
            <a:r>
              <a:rPr sz="1400" b="1">
                <a:solidFill>
                  <a:srgbClr val="E8B896"/>
                </a:solidFill>
                <a:latin typeface="Calibri"/>
              </a:rPr>
              <a:t>INTERNAL  ·  MANAGER AND CEO</a:t>
            </a:r>
          </a:p>
        </p:txBody>
      </p:sp>
      <p:sp>
        <p:nvSpPr>
          <p:cNvPr id="6" name="TextBox 5"/>
          <p:cNvSpPr txBox="1"/>
          <p:nvPr/>
        </p:nvSpPr>
        <p:spPr>
          <a:xfrm>
            <a:off x="640080" y="1874519"/>
            <a:ext cx="10789920" cy="1554480"/>
          </a:xfrm>
          <a:prstGeom prst="rect">
            <a:avLst/>
          </a:prstGeom>
          <a:noFill/>
        </p:spPr>
        <p:txBody>
          <a:bodyPr wrap="square"/>
          <a:lstStyle/>
          <a:p>
            <a:pPr algn="l"/>
            <a:r>
              <a:rPr sz="4400" b="1">
                <a:solidFill>
                  <a:srgbClr val="FFFFFF"/>
                </a:solidFill>
                <a:latin typeface="Calibri"/>
              </a:rPr>
              <a:t>The tool that publishes
Reddit tasks from CRM</a:t>
            </a:r>
          </a:p>
        </p:txBody>
      </p:sp>
      <p:sp>
        <p:nvSpPr>
          <p:cNvPr id="7" name="TextBox 6"/>
          <p:cNvSpPr txBox="1"/>
          <p:nvPr/>
        </p:nvSpPr>
        <p:spPr>
          <a:xfrm>
            <a:off x="640080" y="4023360"/>
            <a:ext cx="10058400" cy="1280160"/>
          </a:xfrm>
          <a:prstGeom prst="rect">
            <a:avLst/>
          </a:prstGeom>
          <a:noFill/>
        </p:spPr>
        <p:txBody>
          <a:bodyPr wrap="square"/>
          <a:lstStyle/>
          <a:p>
            <a:pPr algn="l"/>
            <a:r>
              <a:rPr sz="2000" b="0">
                <a:solidFill>
                  <a:srgbClr val="E6E1D8"/>
                </a:solidFill>
                <a:latin typeface="Calibri"/>
              </a:rPr>
              <a:t>Publishers get the comment and the post in CRM and put them on Reddit by hand.
Accounts get banned. Comments and posts get removed.
This tool does that posting, warms accounts up first, and learns from what Reddit takes down.</a:t>
            </a:r>
          </a:p>
        </p:txBody>
      </p:sp>
      <p:sp>
        <p:nvSpPr>
          <p:cNvPr id="8" name="TextBox 7"/>
          <p:cNvSpPr txBox="1"/>
          <p:nvPr/>
        </p:nvSpPr>
        <p:spPr>
          <a:xfrm>
            <a:off x="640080" y="6035040"/>
            <a:ext cx="7315200" cy="274320"/>
          </a:xfrm>
          <a:prstGeom prst="rect">
            <a:avLst/>
          </a:prstGeom>
          <a:noFill/>
        </p:spPr>
        <p:txBody>
          <a:bodyPr wrap="square"/>
          <a:lstStyle/>
          <a:p>
            <a:pPr algn="l"/>
            <a:r>
              <a:rPr sz="1600" b="1">
                <a:solidFill>
                  <a:srgbClr val="FFFFFF"/>
                </a:solidFill>
                <a:latin typeface="Calibri"/>
              </a:rPr>
              <a:t>Klarivo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What is going wrong</a:t>
            </a:r>
          </a:p>
        </p:txBody>
      </p:sp>
      <p:sp>
        <p:nvSpPr>
          <p:cNvPr id="5" name="TextBox 4"/>
          <p:cNvSpPr txBox="1"/>
          <p:nvPr/>
        </p:nvSpPr>
        <p:spPr>
          <a:xfrm>
            <a:off x="438912" y="914400"/>
            <a:ext cx="10972800" cy="457200"/>
          </a:xfrm>
          <a:prstGeom prst="rect">
            <a:avLst/>
          </a:prstGeom>
          <a:noFill/>
        </p:spPr>
        <p:txBody>
          <a:bodyPr wrap="square"/>
          <a:lstStyle/>
          <a:p>
            <a:pPr algn="l"/>
            <a:r>
              <a:rPr sz="2000" b="0">
                <a:solidFill>
                  <a:srgbClr val="1C2430"/>
                </a:solidFill>
                <a:latin typeface="Calibri"/>
              </a:rPr>
              <a:t>Publishers take the task from CRM and post it by hand. A lot of that work dies.</a:t>
            </a:r>
          </a:p>
        </p:txBody>
      </p:sp>
      <p:sp>
        <p:nvSpPr>
          <p:cNvPr id="6" name="Rounded Rectangle 5"/>
          <p:cNvSpPr/>
          <p:nvPr/>
        </p:nvSpPr>
        <p:spPr>
          <a:xfrm>
            <a:off x="438912" y="1691640"/>
            <a:ext cx="5532120"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4937760" cy="502920"/>
          </a:xfrm>
          <a:prstGeom prst="rect">
            <a:avLst/>
          </a:prstGeom>
          <a:noFill/>
        </p:spPr>
        <p:txBody>
          <a:bodyPr wrap="square"/>
          <a:lstStyle/>
          <a:p>
            <a:pPr algn="l"/>
            <a:r>
              <a:rPr sz="2200" b="1">
                <a:solidFill>
                  <a:srgbClr val="122B45"/>
                </a:solidFill>
                <a:latin typeface="Calibri"/>
              </a:rPr>
              <a:t>Accounts get banned</a:t>
            </a:r>
          </a:p>
        </p:txBody>
      </p:sp>
      <p:sp>
        <p:nvSpPr>
          <p:cNvPr id="8" name="TextBox 7"/>
          <p:cNvSpPr txBox="1"/>
          <p:nvPr/>
        </p:nvSpPr>
        <p:spPr>
          <a:xfrm>
            <a:off x="713232" y="2743200"/>
            <a:ext cx="4937760" cy="548640"/>
          </a:xfrm>
          <a:prstGeom prst="rect">
            <a:avLst/>
          </a:prstGeom>
          <a:noFill/>
        </p:spPr>
        <p:txBody>
          <a:bodyPr wrap="square"/>
          <a:lstStyle/>
          <a:p>
            <a:pPr algn="l"/>
            <a:r>
              <a:rPr sz="1600" b="0">
                <a:solidFill>
                  <a:srgbClr val="1C2430"/>
                </a:solidFill>
                <a:latin typeface="Calibri"/>
              </a:rPr>
              <a:t>We lose the account and every task that was on it.</a:t>
            </a:r>
          </a:p>
        </p:txBody>
      </p:sp>
      <p:sp>
        <p:nvSpPr>
          <p:cNvPr id="9" name="Rounded Rectangle 8"/>
          <p:cNvSpPr/>
          <p:nvPr/>
        </p:nvSpPr>
        <p:spPr>
          <a:xfrm>
            <a:off x="6245352" y="1691640"/>
            <a:ext cx="5532120"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2057400"/>
            <a:ext cx="4937760" cy="502920"/>
          </a:xfrm>
          <a:prstGeom prst="rect">
            <a:avLst/>
          </a:prstGeom>
          <a:noFill/>
        </p:spPr>
        <p:txBody>
          <a:bodyPr wrap="square"/>
          <a:lstStyle/>
          <a:p>
            <a:pPr algn="l"/>
            <a:r>
              <a:rPr sz="2200" b="1">
                <a:solidFill>
                  <a:srgbClr val="122B45"/>
                </a:solidFill>
                <a:latin typeface="Calibri"/>
              </a:rPr>
              <a:t>Comments get removed</a:t>
            </a:r>
          </a:p>
        </p:txBody>
      </p:sp>
      <p:sp>
        <p:nvSpPr>
          <p:cNvPr id="11" name="TextBox 10"/>
          <p:cNvSpPr txBox="1"/>
          <p:nvPr/>
        </p:nvSpPr>
        <p:spPr>
          <a:xfrm>
            <a:off x="6519672" y="2743200"/>
            <a:ext cx="4937760" cy="548640"/>
          </a:xfrm>
          <a:prstGeom prst="rect">
            <a:avLst/>
          </a:prstGeom>
          <a:noFill/>
        </p:spPr>
        <p:txBody>
          <a:bodyPr wrap="square"/>
          <a:lstStyle/>
          <a:p>
            <a:pPr algn="l"/>
            <a:r>
              <a:rPr sz="1600" b="0">
                <a:solidFill>
                  <a:srgbClr val="1C2430"/>
                </a:solidFill>
                <a:latin typeface="Calibri"/>
              </a:rPr>
              <a:t>The reply never stays on the thread.</a:t>
            </a:r>
          </a:p>
        </p:txBody>
      </p:sp>
      <p:sp>
        <p:nvSpPr>
          <p:cNvPr id="12" name="Rounded Rectangle 11"/>
          <p:cNvSpPr/>
          <p:nvPr/>
        </p:nvSpPr>
        <p:spPr>
          <a:xfrm>
            <a:off x="438912" y="3840480"/>
            <a:ext cx="5532120"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206240"/>
            <a:ext cx="4937760" cy="502920"/>
          </a:xfrm>
          <a:prstGeom prst="rect">
            <a:avLst/>
          </a:prstGeom>
          <a:noFill/>
        </p:spPr>
        <p:txBody>
          <a:bodyPr wrap="square"/>
          <a:lstStyle/>
          <a:p>
            <a:pPr algn="l"/>
            <a:r>
              <a:rPr sz="2200" b="1">
                <a:solidFill>
                  <a:srgbClr val="122B45"/>
                </a:solidFill>
                <a:latin typeface="Calibri"/>
              </a:rPr>
              <a:t>Posts get removed</a:t>
            </a:r>
          </a:p>
        </p:txBody>
      </p:sp>
      <p:sp>
        <p:nvSpPr>
          <p:cNvPr id="14" name="TextBox 13"/>
          <p:cNvSpPr txBox="1"/>
          <p:nvPr/>
        </p:nvSpPr>
        <p:spPr>
          <a:xfrm>
            <a:off x="713232" y="4892040"/>
            <a:ext cx="4937760" cy="548640"/>
          </a:xfrm>
          <a:prstGeom prst="rect">
            <a:avLst/>
          </a:prstGeom>
          <a:noFill/>
        </p:spPr>
        <p:txBody>
          <a:bodyPr wrap="square"/>
          <a:lstStyle/>
          <a:p>
            <a:pPr algn="l"/>
            <a:r>
              <a:rPr sz="1600" b="0">
                <a:solidFill>
                  <a:srgbClr val="1C2430"/>
                </a:solidFill>
                <a:latin typeface="Calibri"/>
              </a:rPr>
              <a:t>The post never counts for the client.</a:t>
            </a:r>
          </a:p>
        </p:txBody>
      </p:sp>
      <p:sp>
        <p:nvSpPr>
          <p:cNvPr id="15" name="Rounded Rectangle 14"/>
          <p:cNvSpPr/>
          <p:nvPr/>
        </p:nvSpPr>
        <p:spPr>
          <a:xfrm>
            <a:off x="6245352" y="3840480"/>
            <a:ext cx="5532120"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4206240"/>
            <a:ext cx="4937760" cy="502920"/>
          </a:xfrm>
          <a:prstGeom prst="rect">
            <a:avLst/>
          </a:prstGeom>
          <a:noFill/>
        </p:spPr>
        <p:txBody>
          <a:bodyPr wrap="square"/>
          <a:lstStyle/>
          <a:p>
            <a:pPr algn="l"/>
            <a:r>
              <a:rPr sz="2200" b="1">
                <a:solidFill>
                  <a:srgbClr val="122B45"/>
                </a:solidFill>
                <a:latin typeface="Calibri"/>
              </a:rPr>
              <a:t>The task never counts</a:t>
            </a:r>
          </a:p>
        </p:txBody>
      </p:sp>
      <p:sp>
        <p:nvSpPr>
          <p:cNvPr id="17" name="TextBox 16"/>
          <p:cNvSpPr txBox="1"/>
          <p:nvPr/>
        </p:nvSpPr>
        <p:spPr>
          <a:xfrm>
            <a:off x="6519672" y="4892040"/>
            <a:ext cx="4937760" cy="548640"/>
          </a:xfrm>
          <a:prstGeom prst="rect">
            <a:avLst/>
          </a:prstGeom>
          <a:noFill/>
        </p:spPr>
        <p:txBody>
          <a:bodyPr wrap="square"/>
          <a:lstStyle/>
          <a:p>
            <a:pPr algn="l"/>
            <a:r>
              <a:rPr sz="1600" b="0">
                <a:solidFill>
                  <a:srgbClr val="1C2430"/>
                </a:solidFill>
                <a:latin typeface="Calibri"/>
              </a:rPr>
              <a:t>We paid for the account and the work. The client gets nothing from it.</a:t>
            </a:r>
          </a:p>
        </p:txBody>
      </p:sp>
      <p:sp>
        <p:nvSpPr>
          <p:cNvPr id="18" name="TextBox 17"/>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19" name="TextBox 18"/>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Why that happens</a:t>
            </a:r>
          </a:p>
        </p:txBody>
      </p:sp>
      <p:sp>
        <p:nvSpPr>
          <p:cNvPr id="5" name="TextBox 4"/>
          <p:cNvSpPr txBox="1"/>
          <p:nvPr/>
        </p:nvSpPr>
        <p:spPr>
          <a:xfrm>
            <a:off x="438912" y="914400"/>
            <a:ext cx="10972800" cy="365760"/>
          </a:xfrm>
          <a:prstGeom prst="rect">
            <a:avLst/>
          </a:prstGeom>
          <a:noFill/>
        </p:spPr>
        <p:txBody>
          <a:bodyPr wrap="square"/>
          <a:lstStyle/>
          <a:p>
            <a:pPr algn="l"/>
            <a:r>
              <a:rPr sz="2000" b="0">
                <a:solidFill>
                  <a:srgbClr val="1C2430"/>
                </a:solidFill>
                <a:latin typeface="Calibri"/>
              </a:rPr>
              <a:t>The publisher is guessing, and the account is often not ready.</a:t>
            </a:r>
          </a:p>
        </p:txBody>
      </p:sp>
      <p:sp>
        <p:nvSpPr>
          <p:cNvPr id="6" name="Rounded Rectangle 5"/>
          <p:cNvSpPr/>
          <p:nvPr/>
        </p:nvSpPr>
        <p:spPr>
          <a:xfrm>
            <a:off x="438912" y="1508760"/>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728216"/>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55063"/>
            <a:ext cx="10058400" cy="411480"/>
          </a:xfrm>
          <a:prstGeom prst="rect">
            <a:avLst/>
          </a:prstGeom>
          <a:noFill/>
        </p:spPr>
        <p:txBody>
          <a:bodyPr wrap="square"/>
          <a:lstStyle/>
          <a:p>
            <a:pPr algn="l"/>
            <a:r>
              <a:rPr sz="2000" b="0">
                <a:solidFill>
                  <a:srgbClr val="1C2430"/>
                </a:solidFill>
                <a:latin typeface="Calibri"/>
              </a:rPr>
              <a:t>Wrong subreddit for that comment</a:t>
            </a:r>
          </a:p>
        </p:txBody>
      </p:sp>
      <p:sp>
        <p:nvSpPr>
          <p:cNvPr id="9" name="Rounded Rectangle 8"/>
          <p:cNvSpPr/>
          <p:nvPr/>
        </p:nvSpPr>
        <p:spPr>
          <a:xfrm>
            <a:off x="438912" y="2286000"/>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2505456"/>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32304"/>
            <a:ext cx="10058400" cy="411480"/>
          </a:xfrm>
          <a:prstGeom prst="rect">
            <a:avLst/>
          </a:prstGeom>
          <a:noFill/>
        </p:spPr>
        <p:txBody>
          <a:bodyPr wrap="square"/>
          <a:lstStyle/>
          <a:p>
            <a:pPr algn="l"/>
            <a:r>
              <a:rPr sz="2000" b="0">
                <a:solidFill>
                  <a:srgbClr val="1C2430"/>
                </a:solidFill>
                <a:latin typeface="Calibri"/>
              </a:rPr>
              <a:t>Wrong kind of thread</a:t>
            </a:r>
          </a:p>
        </p:txBody>
      </p:sp>
      <p:sp>
        <p:nvSpPr>
          <p:cNvPr id="12" name="Rounded Rectangle 11"/>
          <p:cNvSpPr/>
          <p:nvPr/>
        </p:nvSpPr>
        <p:spPr>
          <a:xfrm>
            <a:off x="438912" y="3063239"/>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282696"/>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209544"/>
            <a:ext cx="10058400" cy="411480"/>
          </a:xfrm>
          <a:prstGeom prst="rect">
            <a:avLst/>
          </a:prstGeom>
          <a:noFill/>
        </p:spPr>
        <p:txBody>
          <a:bodyPr wrap="square"/>
          <a:lstStyle/>
          <a:p>
            <a:pPr algn="l"/>
            <a:r>
              <a:rPr sz="2000" b="0">
                <a:solidFill>
                  <a:srgbClr val="1C2430"/>
                </a:solidFill>
                <a:latin typeface="Calibri"/>
              </a:rPr>
              <a:t>Copy that does not fit the post or the community rules</a:t>
            </a:r>
          </a:p>
        </p:txBody>
      </p:sp>
      <p:sp>
        <p:nvSpPr>
          <p:cNvPr id="15" name="Rounded Rectangle 14"/>
          <p:cNvSpPr/>
          <p:nvPr/>
        </p:nvSpPr>
        <p:spPr>
          <a:xfrm>
            <a:off x="438912" y="3840479"/>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4059935"/>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3986783"/>
            <a:ext cx="10058400" cy="411480"/>
          </a:xfrm>
          <a:prstGeom prst="rect">
            <a:avLst/>
          </a:prstGeom>
          <a:noFill/>
        </p:spPr>
        <p:txBody>
          <a:bodyPr wrap="square"/>
          <a:lstStyle/>
          <a:p>
            <a:pPr algn="l"/>
            <a:r>
              <a:rPr sz="2000" b="0">
                <a:solidFill>
                  <a:srgbClr val="1C2430"/>
                </a:solidFill>
                <a:latin typeface="Calibri"/>
              </a:rPr>
              <a:t>New account posting too soon</a:t>
            </a:r>
          </a:p>
        </p:txBody>
      </p:sp>
      <p:sp>
        <p:nvSpPr>
          <p:cNvPr id="18" name="Rounded Rectangle 17"/>
          <p:cNvSpPr/>
          <p:nvPr/>
        </p:nvSpPr>
        <p:spPr>
          <a:xfrm>
            <a:off x="438912" y="4617720"/>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4837176"/>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764024"/>
            <a:ext cx="10058400" cy="411480"/>
          </a:xfrm>
          <a:prstGeom prst="rect">
            <a:avLst/>
          </a:prstGeom>
          <a:noFill/>
        </p:spPr>
        <p:txBody>
          <a:bodyPr wrap="square"/>
          <a:lstStyle/>
          <a:p>
            <a:pPr algn="l"/>
            <a:r>
              <a:rPr sz="2000" b="0">
                <a:solidFill>
                  <a:srgbClr val="1C2430"/>
                </a:solidFill>
                <a:latin typeface="Calibri"/>
              </a:rPr>
              <a:t>Too many comments, too close together</a:t>
            </a:r>
          </a:p>
        </p:txBody>
      </p:sp>
      <p:sp>
        <p:nvSpPr>
          <p:cNvPr id="21" name="Rounded Rectangle 20"/>
          <p:cNvSpPr/>
          <p:nvPr/>
        </p:nvSpPr>
        <p:spPr>
          <a:xfrm>
            <a:off x="438912" y="5394960"/>
            <a:ext cx="11247120" cy="68580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5614416"/>
            <a:ext cx="237744" cy="237744"/>
          </a:xfrm>
          <a:prstGeom prst="ellipse">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541264"/>
            <a:ext cx="10058400" cy="411480"/>
          </a:xfrm>
          <a:prstGeom prst="rect">
            <a:avLst/>
          </a:prstGeom>
          <a:noFill/>
        </p:spPr>
        <p:txBody>
          <a:bodyPr wrap="square"/>
          <a:lstStyle/>
          <a:p>
            <a:pPr algn="l"/>
            <a:r>
              <a:rPr sz="2000" b="0">
                <a:solidFill>
                  <a:srgbClr val="1C2430"/>
                </a:solidFill>
                <a:latin typeface="Calibri"/>
              </a:rPr>
              <a:t>Nobody checks whether Reddit kept it</a:t>
            </a:r>
          </a:p>
        </p:txBody>
      </p:sp>
      <p:sp>
        <p:nvSpPr>
          <p:cNvPr id="24" name="TextBox 23"/>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5" name="TextBox 24"/>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What this tool changes</a:t>
            </a:r>
          </a:p>
        </p:txBody>
      </p:sp>
      <p:sp>
        <p:nvSpPr>
          <p:cNvPr id="5" name="TextBox 4"/>
          <p:cNvSpPr txBox="1"/>
          <p:nvPr/>
        </p:nvSpPr>
        <p:spPr>
          <a:xfrm>
            <a:off x="438912" y="914400"/>
            <a:ext cx="10972800" cy="365760"/>
          </a:xfrm>
          <a:prstGeom prst="rect">
            <a:avLst/>
          </a:prstGeom>
          <a:noFill/>
        </p:spPr>
        <p:txBody>
          <a:bodyPr wrap="square"/>
          <a:lstStyle/>
          <a:p>
            <a:pPr algn="l"/>
            <a:r>
              <a:rPr sz="2000" b="0">
                <a:solidFill>
                  <a:srgbClr val="1C2430"/>
                </a:solidFill>
                <a:latin typeface="Calibri"/>
              </a:rPr>
              <a:t>CRM still holds the task. The tool publishes it, then learns from the result.</a:t>
            </a:r>
          </a:p>
        </p:txBody>
      </p:sp>
      <p:sp>
        <p:nvSpPr>
          <p:cNvPr id="6" name="Rounded Rectangle 5"/>
          <p:cNvSpPr/>
          <p:nvPr/>
        </p:nvSpPr>
        <p:spPr>
          <a:xfrm>
            <a:off x="365760" y="1554480"/>
            <a:ext cx="2788920" cy="3931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2423160" cy="457200"/>
          </a:xfrm>
          <a:prstGeom prst="rect">
            <a:avLst/>
          </a:prstGeom>
          <a:noFill/>
        </p:spPr>
        <p:txBody>
          <a:bodyPr wrap="square"/>
          <a:lstStyle/>
          <a:p>
            <a:pPr algn="l"/>
            <a:r>
              <a:rPr sz="2800" b="1">
                <a:solidFill>
                  <a:srgbClr val="C45C26"/>
                </a:solidFill>
                <a:latin typeface="Calibri"/>
              </a:rPr>
              <a:t>1</a:t>
            </a:r>
          </a:p>
        </p:txBody>
      </p:sp>
      <p:sp>
        <p:nvSpPr>
          <p:cNvPr id="8" name="TextBox 7"/>
          <p:cNvSpPr txBox="1"/>
          <p:nvPr/>
        </p:nvSpPr>
        <p:spPr>
          <a:xfrm>
            <a:off x="548640" y="2377440"/>
            <a:ext cx="2423160" cy="548640"/>
          </a:xfrm>
          <a:prstGeom prst="rect">
            <a:avLst/>
          </a:prstGeom>
          <a:noFill/>
        </p:spPr>
        <p:txBody>
          <a:bodyPr wrap="square"/>
          <a:lstStyle/>
          <a:p>
            <a:pPr algn="l"/>
            <a:r>
              <a:rPr sz="2200" b="1">
                <a:solidFill>
                  <a:srgbClr val="122B45"/>
                </a:solidFill>
                <a:latin typeface="Calibri"/>
              </a:rPr>
              <a:t>CRM</a:t>
            </a:r>
          </a:p>
        </p:txBody>
      </p:sp>
      <p:sp>
        <p:nvSpPr>
          <p:cNvPr id="9" name="TextBox 8"/>
          <p:cNvSpPr txBox="1"/>
          <p:nvPr/>
        </p:nvSpPr>
        <p:spPr>
          <a:xfrm>
            <a:off x="548640" y="3108960"/>
            <a:ext cx="2423160" cy="2011680"/>
          </a:xfrm>
          <a:prstGeom prst="rect">
            <a:avLst/>
          </a:prstGeom>
          <a:noFill/>
        </p:spPr>
        <p:txBody>
          <a:bodyPr wrap="square"/>
          <a:lstStyle/>
          <a:p>
            <a:pPr algn="l"/>
            <a:r>
              <a:rPr sz="1600" b="0">
                <a:solidFill>
                  <a:srgbClr val="1C2430"/>
                </a:solidFill>
                <a:latin typeface="Calibri"/>
              </a:rPr>
              <a:t>The comment and the post are prepared here, the same as now.</a:t>
            </a:r>
          </a:p>
        </p:txBody>
      </p:sp>
      <p:sp>
        <p:nvSpPr>
          <p:cNvPr id="10" name="Rounded Rectangle 9"/>
          <p:cNvSpPr/>
          <p:nvPr/>
        </p:nvSpPr>
        <p:spPr>
          <a:xfrm>
            <a:off x="3310128" y="1554480"/>
            <a:ext cx="2788920" cy="3931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93008" y="1783080"/>
            <a:ext cx="2423160" cy="457200"/>
          </a:xfrm>
          <a:prstGeom prst="rect">
            <a:avLst/>
          </a:prstGeom>
          <a:noFill/>
        </p:spPr>
        <p:txBody>
          <a:bodyPr wrap="square"/>
          <a:lstStyle/>
          <a:p>
            <a:pPr algn="l"/>
            <a:r>
              <a:rPr sz="2800" b="1">
                <a:solidFill>
                  <a:srgbClr val="C45C26"/>
                </a:solidFill>
                <a:latin typeface="Calibri"/>
              </a:rPr>
              <a:t>2</a:t>
            </a:r>
          </a:p>
        </p:txBody>
      </p:sp>
      <p:sp>
        <p:nvSpPr>
          <p:cNvPr id="12" name="TextBox 11"/>
          <p:cNvSpPr txBox="1"/>
          <p:nvPr/>
        </p:nvSpPr>
        <p:spPr>
          <a:xfrm>
            <a:off x="3493008" y="2377440"/>
            <a:ext cx="2423160" cy="548640"/>
          </a:xfrm>
          <a:prstGeom prst="rect">
            <a:avLst/>
          </a:prstGeom>
          <a:noFill/>
        </p:spPr>
        <p:txBody>
          <a:bodyPr wrap="square"/>
          <a:lstStyle/>
          <a:p>
            <a:pPr algn="l"/>
            <a:r>
              <a:rPr sz="2200" b="1">
                <a:solidFill>
                  <a:srgbClr val="122B45"/>
                </a:solidFill>
                <a:latin typeface="Calibri"/>
              </a:rPr>
              <a:t>Warm-up</a:t>
            </a:r>
          </a:p>
        </p:txBody>
      </p:sp>
      <p:sp>
        <p:nvSpPr>
          <p:cNvPr id="13" name="TextBox 12"/>
          <p:cNvSpPr txBox="1"/>
          <p:nvPr/>
        </p:nvSpPr>
        <p:spPr>
          <a:xfrm>
            <a:off x="3493008" y="3108960"/>
            <a:ext cx="2423160" cy="2011680"/>
          </a:xfrm>
          <a:prstGeom prst="rect">
            <a:avLst/>
          </a:prstGeom>
          <a:noFill/>
        </p:spPr>
        <p:txBody>
          <a:bodyPr wrap="square"/>
          <a:lstStyle/>
          <a:p>
            <a:pPr algn="l"/>
            <a:r>
              <a:rPr sz="1600" b="0">
                <a:solidFill>
                  <a:srgbClr val="1C2430"/>
                </a:solidFill>
                <a:latin typeface="Calibri"/>
              </a:rPr>
              <a:t>A new account only reads until it is old enough, and karma is high enough, to post.</a:t>
            </a:r>
          </a:p>
        </p:txBody>
      </p:sp>
      <p:sp>
        <p:nvSpPr>
          <p:cNvPr id="14" name="Rounded Rectangle 13"/>
          <p:cNvSpPr/>
          <p:nvPr/>
        </p:nvSpPr>
        <p:spPr>
          <a:xfrm>
            <a:off x="6254496" y="1554480"/>
            <a:ext cx="2788920" cy="3931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7376" y="1783080"/>
            <a:ext cx="2423160" cy="457200"/>
          </a:xfrm>
          <a:prstGeom prst="rect">
            <a:avLst/>
          </a:prstGeom>
          <a:noFill/>
        </p:spPr>
        <p:txBody>
          <a:bodyPr wrap="square"/>
          <a:lstStyle/>
          <a:p>
            <a:pPr algn="l"/>
            <a:r>
              <a:rPr sz="2800" b="1">
                <a:solidFill>
                  <a:srgbClr val="C45C26"/>
                </a:solidFill>
                <a:latin typeface="Calibri"/>
              </a:rPr>
              <a:t>3</a:t>
            </a:r>
          </a:p>
        </p:txBody>
      </p:sp>
      <p:sp>
        <p:nvSpPr>
          <p:cNvPr id="16" name="TextBox 15"/>
          <p:cNvSpPr txBox="1"/>
          <p:nvPr/>
        </p:nvSpPr>
        <p:spPr>
          <a:xfrm>
            <a:off x="6437376" y="2377440"/>
            <a:ext cx="2423160" cy="548640"/>
          </a:xfrm>
          <a:prstGeom prst="rect">
            <a:avLst/>
          </a:prstGeom>
          <a:noFill/>
        </p:spPr>
        <p:txBody>
          <a:bodyPr wrap="square"/>
          <a:lstStyle/>
          <a:p>
            <a:pPr algn="l"/>
            <a:r>
              <a:rPr sz="2200" b="1">
                <a:solidFill>
                  <a:srgbClr val="122B45"/>
                </a:solidFill>
                <a:latin typeface="Calibri"/>
              </a:rPr>
              <a:t>Publish</a:t>
            </a:r>
          </a:p>
        </p:txBody>
      </p:sp>
      <p:sp>
        <p:nvSpPr>
          <p:cNvPr id="17" name="TextBox 16"/>
          <p:cNvSpPr txBox="1"/>
          <p:nvPr/>
        </p:nvSpPr>
        <p:spPr>
          <a:xfrm>
            <a:off x="6437376" y="3108960"/>
            <a:ext cx="2423160" cy="2011680"/>
          </a:xfrm>
          <a:prstGeom prst="rect">
            <a:avLst/>
          </a:prstGeom>
          <a:noFill/>
        </p:spPr>
        <p:txBody>
          <a:bodyPr wrap="square"/>
          <a:lstStyle/>
          <a:p>
            <a:pPr algn="l"/>
            <a:r>
              <a:rPr sz="1600" b="0">
                <a:solidFill>
                  <a:srgbClr val="1C2430"/>
                </a:solidFill>
                <a:latin typeface="Calibri"/>
              </a:rPr>
              <a:t>The tool opens the account, reads the community rules, and places the task.</a:t>
            </a:r>
          </a:p>
        </p:txBody>
      </p:sp>
      <p:sp>
        <p:nvSpPr>
          <p:cNvPr id="18" name="Rounded Rectangle 17"/>
          <p:cNvSpPr/>
          <p:nvPr/>
        </p:nvSpPr>
        <p:spPr>
          <a:xfrm>
            <a:off x="9198864" y="1554480"/>
            <a:ext cx="2788920" cy="3931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81744" y="1783080"/>
            <a:ext cx="2423160" cy="457200"/>
          </a:xfrm>
          <a:prstGeom prst="rect">
            <a:avLst/>
          </a:prstGeom>
          <a:noFill/>
        </p:spPr>
        <p:txBody>
          <a:bodyPr wrap="square"/>
          <a:lstStyle/>
          <a:p>
            <a:pPr algn="l"/>
            <a:r>
              <a:rPr sz="2800" b="1">
                <a:solidFill>
                  <a:srgbClr val="C45C26"/>
                </a:solidFill>
                <a:latin typeface="Calibri"/>
              </a:rPr>
              <a:t>4</a:t>
            </a:r>
          </a:p>
        </p:txBody>
      </p:sp>
      <p:sp>
        <p:nvSpPr>
          <p:cNvPr id="20" name="TextBox 19"/>
          <p:cNvSpPr txBox="1"/>
          <p:nvPr/>
        </p:nvSpPr>
        <p:spPr>
          <a:xfrm>
            <a:off x="9381744" y="2377440"/>
            <a:ext cx="2423160" cy="548640"/>
          </a:xfrm>
          <a:prstGeom prst="rect">
            <a:avLst/>
          </a:prstGeom>
          <a:noFill/>
        </p:spPr>
        <p:txBody>
          <a:bodyPr wrap="square"/>
          <a:lstStyle/>
          <a:p>
            <a:pPr algn="l"/>
            <a:r>
              <a:rPr sz="2200" b="1">
                <a:solidFill>
                  <a:srgbClr val="122B45"/>
                </a:solidFill>
                <a:latin typeface="Calibri"/>
              </a:rPr>
              <a:t>Learn</a:t>
            </a:r>
          </a:p>
        </p:txBody>
      </p:sp>
      <p:sp>
        <p:nvSpPr>
          <p:cNvPr id="21" name="TextBox 20"/>
          <p:cNvSpPr txBox="1"/>
          <p:nvPr/>
        </p:nvSpPr>
        <p:spPr>
          <a:xfrm>
            <a:off x="9381744" y="3108960"/>
            <a:ext cx="2423160" cy="2011680"/>
          </a:xfrm>
          <a:prstGeom prst="rect">
            <a:avLst/>
          </a:prstGeom>
          <a:noFill/>
        </p:spPr>
        <p:txBody>
          <a:bodyPr wrap="square"/>
          <a:lstStyle/>
          <a:p>
            <a:pPr algn="l"/>
            <a:r>
              <a:rPr sz="1600" b="0">
                <a:solidFill>
                  <a:srgbClr val="1C2430"/>
                </a:solidFill>
                <a:latin typeface="Calibri"/>
              </a:rPr>
              <a:t>It checks what Reddit did, and it does not repeat a choice that was removed.</a:t>
            </a:r>
          </a:p>
        </p:txBody>
      </p:sp>
      <p:sp>
        <p:nvSpPr>
          <p:cNvPr id="22" name="TextBox 21"/>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3" name="TextBox 22"/>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How an account warms up</a:t>
            </a:r>
          </a:p>
        </p:txBody>
      </p:sp>
      <p:sp>
        <p:nvSpPr>
          <p:cNvPr id="5" name="TextBox 4"/>
          <p:cNvSpPr txBox="1"/>
          <p:nvPr/>
        </p:nvSpPr>
        <p:spPr>
          <a:xfrm>
            <a:off x="438912" y="868680"/>
            <a:ext cx="11155680" cy="365760"/>
          </a:xfrm>
          <a:prstGeom prst="rect">
            <a:avLst/>
          </a:prstGeom>
          <a:noFill/>
        </p:spPr>
        <p:txBody>
          <a:bodyPr wrap="square"/>
          <a:lstStyle/>
          <a:p>
            <a:pPr algn="l"/>
            <a:r>
              <a:rPr sz="2000" b="0">
                <a:solidFill>
                  <a:srgbClr val="1C2430"/>
                </a:solidFill>
                <a:latin typeface="Calibri"/>
              </a:rPr>
              <a:t>A new account is not handed a client task on day one.</a:t>
            </a:r>
          </a:p>
        </p:txBody>
      </p:sp>
      <p:sp>
        <p:nvSpPr>
          <p:cNvPr id="6" name="Rounded Rectangle 5"/>
          <p:cNvSpPr/>
          <p:nvPr/>
        </p:nvSpPr>
        <p:spPr>
          <a:xfrm>
            <a:off x="365760" y="1463040"/>
            <a:ext cx="3703320" cy="338328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91640"/>
            <a:ext cx="3291840" cy="411480"/>
          </a:xfrm>
          <a:prstGeom prst="rect">
            <a:avLst/>
          </a:prstGeom>
          <a:noFill/>
        </p:spPr>
        <p:txBody>
          <a:bodyPr wrap="square"/>
          <a:lstStyle/>
          <a:p>
            <a:pPr algn="l"/>
            <a:r>
              <a:rPr sz="1600" b="1">
                <a:solidFill>
                  <a:srgbClr val="C45C26"/>
                </a:solidFill>
                <a:latin typeface="Calibri"/>
              </a:rPr>
              <a:t>Days 1 to 7</a:t>
            </a:r>
          </a:p>
        </p:txBody>
      </p:sp>
      <p:sp>
        <p:nvSpPr>
          <p:cNvPr id="8" name="TextBox 7"/>
          <p:cNvSpPr txBox="1"/>
          <p:nvPr/>
        </p:nvSpPr>
        <p:spPr>
          <a:xfrm>
            <a:off x="566928" y="2194560"/>
            <a:ext cx="3291840" cy="548640"/>
          </a:xfrm>
          <a:prstGeom prst="rect">
            <a:avLst/>
          </a:prstGeom>
          <a:noFill/>
        </p:spPr>
        <p:txBody>
          <a:bodyPr wrap="square"/>
          <a:lstStyle/>
          <a:p>
            <a:pPr algn="l"/>
            <a:r>
              <a:rPr sz="2400" b="1">
                <a:solidFill>
                  <a:srgbClr val="122B45"/>
                </a:solidFill>
                <a:latin typeface="Calibri"/>
              </a:rPr>
              <a:t>Browse only</a:t>
            </a:r>
          </a:p>
        </p:txBody>
      </p:sp>
      <p:sp>
        <p:nvSpPr>
          <p:cNvPr id="9" name="TextBox 8"/>
          <p:cNvSpPr txBox="1"/>
          <p:nvPr/>
        </p:nvSpPr>
        <p:spPr>
          <a:xfrm>
            <a:off x="566928" y="2926080"/>
            <a:ext cx="3291840" cy="1645920"/>
          </a:xfrm>
          <a:prstGeom prst="rect">
            <a:avLst/>
          </a:prstGeom>
          <a:noFill/>
        </p:spPr>
        <p:txBody>
          <a:bodyPr wrap="square"/>
          <a:lstStyle/>
          <a:p>
            <a:pPr algn="l"/>
            <a:r>
              <a:rPr sz="1600" b="0">
                <a:solidFill>
                  <a:srgbClr val="1C2430"/>
                </a:solidFill>
                <a:latin typeface="Calibri"/>
              </a:rPr>
              <a:t>It reads. It does not comment, and it does not post. This is the week Reddit is hardest on a new account.</a:t>
            </a:r>
          </a:p>
        </p:txBody>
      </p:sp>
      <p:sp>
        <p:nvSpPr>
          <p:cNvPr id="10" name="Rounded Rectangle 9"/>
          <p:cNvSpPr/>
          <p:nvPr/>
        </p:nvSpPr>
        <p:spPr>
          <a:xfrm>
            <a:off x="4251960" y="1463040"/>
            <a:ext cx="3703320" cy="338328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53128" y="1691640"/>
            <a:ext cx="3291840" cy="411480"/>
          </a:xfrm>
          <a:prstGeom prst="rect">
            <a:avLst/>
          </a:prstGeom>
          <a:noFill/>
        </p:spPr>
        <p:txBody>
          <a:bodyPr wrap="square"/>
          <a:lstStyle/>
          <a:p>
            <a:pPr algn="l"/>
            <a:r>
              <a:rPr sz="1600" b="1">
                <a:solidFill>
                  <a:srgbClr val="C45C26"/>
                </a:solidFill>
                <a:latin typeface="Calibri"/>
              </a:rPr>
              <a:t>After day 7</a:t>
            </a:r>
          </a:p>
        </p:txBody>
      </p:sp>
      <p:sp>
        <p:nvSpPr>
          <p:cNvPr id="12" name="TextBox 11"/>
          <p:cNvSpPr txBox="1"/>
          <p:nvPr/>
        </p:nvSpPr>
        <p:spPr>
          <a:xfrm>
            <a:off x="4453128" y="2194560"/>
            <a:ext cx="3291840" cy="548640"/>
          </a:xfrm>
          <a:prstGeom prst="rect">
            <a:avLst/>
          </a:prstGeom>
          <a:noFill/>
        </p:spPr>
        <p:txBody>
          <a:bodyPr wrap="square"/>
          <a:lstStyle/>
          <a:p>
            <a:pPr algn="l"/>
            <a:r>
              <a:rPr sz="2400" b="1">
                <a:solidFill>
                  <a:srgbClr val="122B45"/>
                </a:solidFill>
                <a:latin typeface="Calibri"/>
              </a:rPr>
              <a:t>Comments start</a:t>
            </a:r>
          </a:p>
        </p:txBody>
      </p:sp>
      <p:sp>
        <p:nvSpPr>
          <p:cNvPr id="13" name="TextBox 12"/>
          <p:cNvSpPr txBox="1"/>
          <p:nvPr/>
        </p:nvSpPr>
        <p:spPr>
          <a:xfrm>
            <a:off x="4453128" y="2926080"/>
            <a:ext cx="3291840" cy="1645920"/>
          </a:xfrm>
          <a:prstGeom prst="rect">
            <a:avLst/>
          </a:prstGeom>
          <a:noFill/>
        </p:spPr>
        <p:txBody>
          <a:bodyPr wrap="square"/>
          <a:lstStyle/>
          <a:p>
            <a:pPr algn="l"/>
            <a:r>
              <a:rPr sz="1600" b="0">
                <a:solidFill>
                  <a:srgbClr val="1C2430"/>
                </a:solidFill>
                <a:latin typeface="Calibri"/>
              </a:rPr>
              <a:t>Up to 2 comments per 48 hours. Comments are how the account earns karma. One new community join per sitting.</a:t>
            </a:r>
          </a:p>
        </p:txBody>
      </p:sp>
      <p:sp>
        <p:nvSpPr>
          <p:cNvPr id="14" name="Rounded Rectangle 13"/>
          <p:cNvSpPr/>
          <p:nvPr/>
        </p:nvSpPr>
        <p:spPr>
          <a:xfrm>
            <a:off x="8138160" y="1463040"/>
            <a:ext cx="3703320" cy="338328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8" y="1691640"/>
            <a:ext cx="3291840" cy="411480"/>
          </a:xfrm>
          <a:prstGeom prst="rect">
            <a:avLst/>
          </a:prstGeom>
          <a:noFill/>
        </p:spPr>
        <p:txBody>
          <a:bodyPr wrap="square"/>
          <a:lstStyle/>
          <a:p>
            <a:pPr algn="l"/>
            <a:r>
              <a:rPr sz="1600" b="1">
                <a:solidFill>
                  <a:srgbClr val="C45C26"/>
                </a:solidFill>
                <a:latin typeface="Calibri"/>
              </a:rPr>
              <a:t>Karma 10</a:t>
            </a:r>
          </a:p>
        </p:txBody>
      </p:sp>
      <p:sp>
        <p:nvSpPr>
          <p:cNvPr id="16" name="TextBox 15"/>
          <p:cNvSpPr txBox="1"/>
          <p:nvPr/>
        </p:nvSpPr>
        <p:spPr>
          <a:xfrm>
            <a:off x="8339328" y="2194560"/>
            <a:ext cx="3291840" cy="548640"/>
          </a:xfrm>
          <a:prstGeom prst="rect">
            <a:avLst/>
          </a:prstGeom>
          <a:noFill/>
        </p:spPr>
        <p:txBody>
          <a:bodyPr wrap="square"/>
          <a:lstStyle/>
          <a:p>
            <a:pPr algn="l"/>
            <a:r>
              <a:rPr sz="2400" b="1">
                <a:solidFill>
                  <a:srgbClr val="122B45"/>
                </a:solidFill>
                <a:latin typeface="Calibri"/>
              </a:rPr>
              <a:t>Posts unlock</a:t>
            </a:r>
          </a:p>
        </p:txBody>
      </p:sp>
      <p:sp>
        <p:nvSpPr>
          <p:cNvPr id="17" name="TextBox 16"/>
          <p:cNvSpPr txBox="1"/>
          <p:nvPr/>
        </p:nvSpPr>
        <p:spPr>
          <a:xfrm>
            <a:off x="8339328" y="2926080"/>
            <a:ext cx="3291840" cy="1645920"/>
          </a:xfrm>
          <a:prstGeom prst="rect">
            <a:avLst/>
          </a:prstGeom>
          <a:noFill/>
        </p:spPr>
        <p:txBody>
          <a:bodyPr wrap="square"/>
          <a:lstStyle/>
          <a:p>
            <a:pPr algn="l"/>
            <a:r>
              <a:rPr sz="1600" b="0">
                <a:solidFill>
                  <a:srgbClr val="1C2430"/>
                </a:solidFill>
                <a:latin typeface="Calibri"/>
              </a:rPr>
              <a:t>One text post per 48 hours. Below karma 10, the account can comment and cannot post.</a:t>
            </a:r>
          </a:p>
        </p:txBody>
      </p:sp>
      <p:sp>
        <p:nvSpPr>
          <p:cNvPr id="18" name="TextBox 17"/>
          <p:cNvSpPr txBox="1"/>
          <p:nvPr/>
        </p:nvSpPr>
        <p:spPr>
          <a:xfrm>
            <a:off x="438912" y="5074920"/>
            <a:ext cx="11247120" cy="1097280"/>
          </a:xfrm>
          <a:prstGeom prst="rect">
            <a:avLst/>
          </a:prstGeom>
          <a:noFill/>
        </p:spPr>
        <p:txBody>
          <a:bodyPr wrap="square"/>
          <a:lstStyle/>
          <a:p>
            <a:pPr algn="l"/>
            <a:r>
              <a:rPr sz="1600" b="0">
                <a:solidFill>
                  <a:srgbClr val="1C2430"/>
                </a:solidFill>
                <a:latin typeface="Calibri"/>
              </a:rPr>
              <a:t>If the account is already banned or suspended, the run stops and the report names it.
The cap stays on after warm-up: 2 comments and 1 post per account per 48 hours. The same thread is used once across all accounts.</a:t>
            </a:r>
          </a:p>
        </p:txBody>
      </p:sp>
      <p:sp>
        <p:nvSpPr>
          <p:cNvPr id="19" name="TextBox 18"/>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0" name="TextBox 19"/>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Before it publishes a task</a:t>
            </a:r>
          </a:p>
        </p:txBody>
      </p:sp>
      <p:sp>
        <p:nvSpPr>
          <p:cNvPr id="5" name="TextBox 4"/>
          <p:cNvSpPr txBox="1"/>
          <p:nvPr/>
        </p:nvSpPr>
        <p:spPr>
          <a:xfrm>
            <a:off x="438912" y="868680"/>
            <a:ext cx="10972800" cy="320040"/>
          </a:xfrm>
          <a:prstGeom prst="rect">
            <a:avLst/>
          </a:prstGeom>
          <a:noFill/>
        </p:spPr>
        <p:txBody>
          <a:bodyPr wrap="square"/>
          <a:lstStyle/>
          <a:p>
            <a:pPr algn="l"/>
            <a:r>
              <a:rPr sz="1800" b="0">
                <a:solidFill>
                  <a:srgbClr val="5C6B7A"/>
                </a:solidFill>
                <a:latin typeface="Calibri"/>
              </a:rPr>
              <a:t>Warm-up is the account rule. These are the task rules.</a:t>
            </a:r>
          </a:p>
        </p:txBody>
      </p:sp>
      <p:sp>
        <p:nvSpPr>
          <p:cNvPr id="6" name="Rectangle 5"/>
          <p:cNvSpPr/>
          <p:nvPr/>
        </p:nvSpPr>
        <p:spPr>
          <a:xfrm>
            <a:off x="438912" y="1371600"/>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36192"/>
            <a:ext cx="6583680" cy="384048"/>
          </a:xfrm>
          <a:prstGeom prst="rect">
            <a:avLst/>
          </a:prstGeom>
          <a:noFill/>
        </p:spPr>
        <p:txBody>
          <a:bodyPr wrap="square"/>
          <a:lstStyle/>
          <a:p>
            <a:pPr algn="l"/>
            <a:r>
              <a:rPr sz="1800" b="1">
                <a:solidFill>
                  <a:srgbClr val="122B45"/>
                </a:solidFill>
                <a:latin typeface="Calibri"/>
              </a:rPr>
              <a:t>Still in the first 7 days</a:t>
            </a:r>
          </a:p>
        </p:txBody>
      </p:sp>
      <p:sp>
        <p:nvSpPr>
          <p:cNvPr id="8" name="TextBox 7"/>
          <p:cNvSpPr txBox="1"/>
          <p:nvPr/>
        </p:nvSpPr>
        <p:spPr>
          <a:xfrm>
            <a:off x="7406640" y="1536192"/>
            <a:ext cx="4023360" cy="384048"/>
          </a:xfrm>
          <a:prstGeom prst="rect">
            <a:avLst/>
          </a:prstGeom>
          <a:noFill/>
        </p:spPr>
        <p:txBody>
          <a:bodyPr wrap="square"/>
          <a:lstStyle/>
          <a:p>
            <a:pPr algn="l"/>
            <a:r>
              <a:rPr sz="1800" b="0">
                <a:solidFill>
                  <a:srgbClr val="1C2430"/>
                </a:solidFill>
                <a:latin typeface="Calibri"/>
              </a:rPr>
              <a:t>Browse only</a:t>
            </a:r>
          </a:p>
        </p:txBody>
      </p:sp>
      <p:sp>
        <p:nvSpPr>
          <p:cNvPr id="9" name="Rectangle 8"/>
          <p:cNvSpPr/>
          <p:nvPr/>
        </p:nvSpPr>
        <p:spPr>
          <a:xfrm>
            <a:off x="438912" y="2084832"/>
            <a:ext cx="11247120"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49424"/>
            <a:ext cx="6583680" cy="384048"/>
          </a:xfrm>
          <a:prstGeom prst="rect">
            <a:avLst/>
          </a:prstGeom>
          <a:noFill/>
        </p:spPr>
        <p:txBody>
          <a:bodyPr wrap="square"/>
          <a:lstStyle/>
          <a:p>
            <a:pPr algn="l"/>
            <a:r>
              <a:rPr sz="1800" b="1">
                <a:solidFill>
                  <a:srgbClr val="122B45"/>
                </a:solidFill>
                <a:latin typeface="Calibri"/>
              </a:rPr>
              <a:t>Karma under 10</a:t>
            </a:r>
          </a:p>
        </p:txBody>
      </p:sp>
      <p:sp>
        <p:nvSpPr>
          <p:cNvPr id="11" name="TextBox 10"/>
          <p:cNvSpPr txBox="1"/>
          <p:nvPr/>
        </p:nvSpPr>
        <p:spPr>
          <a:xfrm>
            <a:off x="7406640" y="2249424"/>
            <a:ext cx="4023360" cy="384048"/>
          </a:xfrm>
          <a:prstGeom prst="rect">
            <a:avLst/>
          </a:prstGeom>
          <a:noFill/>
        </p:spPr>
        <p:txBody>
          <a:bodyPr wrap="square"/>
          <a:lstStyle/>
          <a:p>
            <a:pPr algn="l"/>
            <a:r>
              <a:rPr sz="1800" b="0">
                <a:solidFill>
                  <a:srgbClr val="1C2430"/>
                </a:solidFill>
                <a:latin typeface="Calibri"/>
              </a:rPr>
              <a:t>No post</a:t>
            </a:r>
          </a:p>
        </p:txBody>
      </p:sp>
      <p:sp>
        <p:nvSpPr>
          <p:cNvPr id="12" name="Rectangle 11"/>
          <p:cNvSpPr/>
          <p:nvPr/>
        </p:nvSpPr>
        <p:spPr>
          <a:xfrm>
            <a:off x="438912" y="2798064"/>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62656"/>
            <a:ext cx="6583680" cy="384048"/>
          </a:xfrm>
          <a:prstGeom prst="rect">
            <a:avLst/>
          </a:prstGeom>
          <a:noFill/>
        </p:spPr>
        <p:txBody>
          <a:bodyPr wrap="square"/>
          <a:lstStyle/>
          <a:p>
            <a:pPr algn="l"/>
            <a:r>
              <a:rPr sz="1800" b="1">
                <a:solidFill>
                  <a:srgbClr val="122B45"/>
                </a:solidFill>
                <a:latin typeface="Calibri"/>
              </a:rPr>
              <a:t>Account already banned</a:t>
            </a:r>
          </a:p>
        </p:txBody>
      </p:sp>
      <p:sp>
        <p:nvSpPr>
          <p:cNvPr id="14" name="TextBox 13"/>
          <p:cNvSpPr txBox="1"/>
          <p:nvPr/>
        </p:nvSpPr>
        <p:spPr>
          <a:xfrm>
            <a:off x="7406640" y="2962656"/>
            <a:ext cx="4023360" cy="384048"/>
          </a:xfrm>
          <a:prstGeom prst="rect">
            <a:avLst/>
          </a:prstGeom>
          <a:noFill/>
        </p:spPr>
        <p:txBody>
          <a:bodyPr wrap="square"/>
          <a:lstStyle/>
          <a:p>
            <a:pPr algn="l"/>
            <a:r>
              <a:rPr sz="1800" b="0">
                <a:solidFill>
                  <a:srgbClr val="1C2430"/>
                </a:solidFill>
                <a:latin typeface="Calibri"/>
              </a:rPr>
              <a:t>Stops and reports it</a:t>
            </a:r>
          </a:p>
        </p:txBody>
      </p:sp>
      <p:sp>
        <p:nvSpPr>
          <p:cNvPr id="15" name="Rectangle 14"/>
          <p:cNvSpPr/>
          <p:nvPr/>
        </p:nvSpPr>
        <p:spPr>
          <a:xfrm>
            <a:off x="438912" y="3511296"/>
            <a:ext cx="11247120"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75887"/>
            <a:ext cx="6583680" cy="384048"/>
          </a:xfrm>
          <a:prstGeom prst="rect">
            <a:avLst/>
          </a:prstGeom>
          <a:noFill/>
        </p:spPr>
        <p:txBody>
          <a:bodyPr wrap="square"/>
          <a:lstStyle/>
          <a:p>
            <a:pPr algn="l"/>
            <a:r>
              <a:rPr sz="1800" b="1">
                <a:solidFill>
                  <a:srgbClr val="122B45"/>
                </a:solidFill>
                <a:latin typeface="Calibri"/>
              </a:rPr>
              <a:t>Thread is not a question, help, suggestion, or review</a:t>
            </a:r>
          </a:p>
        </p:txBody>
      </p:sp>
      <p:sp>
        <p:nvSpPr>
          <p:cNvPr id="17" name="TextBox 16"/>
          <p:cNvSpPr txBox="1"/>
          <p:nvPr/>
        </p:nvSpPr>
        <p:spPr>
          <a:xfrm>
            <a:off x="7406640" y="3675887"/>
            <a:ext cx="4023360" cy="384048"/>
          </a:xfrm>
          <a:prstGeom prst="rect">
            <a:avLst/>
          </a:prstGeom>
          <a:noFill/>
        </p:spPr>
        <p:txBody>
          <a:bodyPr wrap="square"/>
          <a:lstStyle/>
          <a:p>
            <a:pPr algn="l"/>
            <a:r>
              <a:rPr sz="1800" b="0">
                <a:solidFill>
                  <a:srgbClr val="1C2430"/>
                </a:solidFill>
                <a:latin typeface="Calibri"/>
              </a:rPr>
              <a:t>Skips it</a:t>
            </a:r>
          </a:p>
        </p:txBody>
      </p:sp>
      <p:sp>
        <p:nvSpPr>
          <p:cNvPr id="18" name="Rectangle 17"/>
          <p:cNvSpPr/>
          <p:nvPr/>
        </p:nvSpPr>
        <p:spPr>
          <a:xfrm>
            <a:off x="438912" y="4224528"/>
            <a:ext cx="1124712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89120"/>
            <a:ext cx="6583680" cy="384048"/>
          </a:xfrm>
          <a:prstGeom prst="rect">
            <a:avLst/>
          </a:prstGeom>
          <a:noFill/>
        </p:spPr>
        <p:txBody>
          <a:bodyPr wrap="square"/>
          <a:lstStyle/>
          <a:p>
            <a:pPr algn="l"/>
            <a:r>
              <a:rPr sz="1800" b="1">
                <a:solidFill>
                  <a:srgbClr val="122B45"/>
                </a:solidFill>
                <a:latin typeface="Calibri"/>
              </a:rPr>
              <a:t>Community rules do not fit the wording</a:t>
            </a:r>
          </a:p>
        </p:txBody>
      </p:sp>
      <p:sp>
        <p:nvSpPr>
          <p:cNvPr id="20" name="TextBox 19"/>
          <p:cNvSpPr txBox="1"/>
          <p:nvPr/>
        </p:nvSpPr>
        <p:spPr>
          <a:xfrm>
            <a:off x="7406640" y="4389120"/>
            <a:ext cx="4023360" cy="384048"/>
          </a:xfrm>
          <a:prstGeom prst="rect">
            <a:avLst/>
          </a:prstGeom>
          <a:noFill/>
        </p:spPr>
        <p:txBody>
          <a:bodyPr wrap="square"/>
          <a:lstStyle/>
          <a:p>
            <a:pPr algn="l"/>
            <a:r>
              <a:rPr sz="1800" b="0">
                <a:solidFill>
                  <a:srgbClr val="1C2430"/>
                </a:solidFill>
                <a:latin typeface="Calibri"/>
              </a:rPr>
              <a:t>Changes the tone, or sits the thread out</a:t>
            </a:r>
          </a:p>
        </p:txBody>
      </p:sp>
      <p:sp>
        <p:nvSpPr>
          <p:cNvPr id="21" name="Rectangle 20"/>
          <p:cNvSpPr/>
          <p:nvPr/>
        </p:nvSpPr>
        <p:spPr>
          <a:xfrm>
            <a:off x="438912" y="4937760"/>
            <a:ext cx="11247120" cy="713232"/>
          </a:xfrm>
          <a:prstGeom prst="rect">
            <a:avLst/>
          </a:prstGeom>
          <a:solidFill>
            <a:srgbClr val="FB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102352"/>
            <a:ext cx="6583680" cy="384048"/>
          </a:xfrm>
          <a:prstGeom prst="rect">
            <a:avLst/>
          </a:prstGeom>
          <a:noFill/>
        </p:spPr>
        <p:txBody>
          <a:bodyPr wrap="square"/>
          <a:lstStyle/>
          <a:p>
            <a:pPr algn="l"/>
            <a:r>
              <a:rPr sz="1800" b="1">
                <a:solidFill>
                  <a:srgbClr val="122B45"/>
                </a:solidFill>
                <a:latin typeface="Calibri"/>
              </a:rPr>
              <a:t>Comment or post budget already used</a:t>
            </a:r>
          </a:p>
        </p:txBody>
      </p:sp>
      <p:sp>
        <p:nvSpPr>
          <p:cNvPr id="23" name="TextBox 22"/>
          <p:cNvSpPr txBox="1"/>
          <p:nvPr/>
        </p:nvSpPr>
        <p:spPr>
          <a:xfrm>
            <a:off x="7406640" y="5102352"/>
            <a:ext cx="4023360" cy="384048"/>
          </a:xfrm>
          <a:prstGeom prst="rect">
            <a:avLst/>
          </a:prstGeom>
          <a:noFill/>
        </p:spPr>
        <p:txBody>
          <a:bodyPr wrap="square"/>
          <a:lstStyle/>
          <a:p>
            <a:pPr algn="l"/>
            <a:r>
              <a:rPr sz="1800" b="0">
                <a:solidFill>
                  <a:srgbClr val="1C2430"/>
                </a:solidFill>
                <a:latin typeface="Calibri"/>
              </a:rPr>
              <a:t>Waits until the 48 hours are up</a:t>
            </a:r>
          </a:p>
        </p:txBody>
      </p:sp>
      <p:sp>
        <p:nvSpPr>
          <p:cNvPr id="24" name="TextBox 23"/>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5" name="TextBox 24"/>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The learning model, and what it uses</a:t>
            </a:r>
          </a:p>
        </p:txBody>
      </p:sp>
      <p:sp>
        <p:nvSpPr>
          <p:cNvPr id="5" name="TextBox 4"/>
          <p:cNvSpPr txBox="1"/>
          <p:nvPr/>
        </p:nvSpPr>
        <p:spPr>
          <a:xfrm>
            <a:off x="438912" y="868680"/>
            <a:ext cx="11155680" cy="502920"/>
          </a:xfrm>
          <a:prstGeom prst="rect">
            <a:avLst/>
          </a:prstGeom>
          <a:noFill/>
        </p:spPr>
        <p:txBody>
          <a:bodyPr wrap="square"/>
          <a:lstStyle/>
          <a:p>
            <a:pPr algn="l"/>
            <a:r>
              <a:rPr sz="1800" b="0">
                <a:solidFill>
                  <a:srgbClr val="1C2430"/>
                </a:solidFill>
                <a:latin typeface="Calibri"/>
              </a:rPr>
              <a:t>Reinforcement learning. A small model scores each choice, keeps the ones Reddit left up, and drops the ones it removed.</a:t>
            </a:r>
          </a:p>
        </p:txBody>
      </p:sp>
      <p:sp>
        <p:nvSpPr>
          <p:cNvPr id="6" name="Rounded Rectangle 5"/>
          <p:cNvSpPr/>
          <p:nvPr/>
        </p:nvSpPr>
        <p:spPr>
          <a:xfrm>
            <a:off x="365760" y="1554480"/>
            <a:ext cx="5760720" cy="102412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664207"/>
            <a:ext cx="5394960" cy="320040"/>
          </a:xfrm>
          <a:prstGeom prst="rect">
            <a:avLst/>
          </a:prstGeom>
          <a:noFill/>
        </p:spPr>
        <p:txBody>
          <a:bodyPr wrap="square"/>
          <a:lstStyle/>
          <a:p>
            <a:pPr algn="l"/>
            <a:r>
              <a:rPr sz="1600" b="1">
                <a:solidFill>
                  <a:srgbClr val="122B45"/>
                </a:solidFill>
                <a:latin typeface="Calibri"/>
              </a:rPr>
              <a:t>Karma and account age</a:t>
            </a:r>
          </a:p>
        </p:txBody>
      </p:sp>
      <p:sp>
        <p:nvSpPr>
          <p:cNvPr id="8" name="TextBox 7"/>
          <p:cNvSpPr txBox="1"/>
          <p:nvPr/>
        </p:nvSpPr>
        <p:spPr>
          <a:xfrm>
            <a:off x="566928" y="2011680"/>
            <a:ext cx="5394960" cy="457200"/>
          </a:xfrm>
          <a:prstGeom prst="rect">
            <a:avLst/>
          </a:prstGeom>
          <a:noFill/>
        </p:spPr>
        <p:txBody>
          <a:bodyPr wrap="square"/>
          <a:lstStyle/>
          <a:p>
            <a:pPr algn="l"/>
            <a:r>
              <a:rPr sz="1400" b="0">
                <a:solidFill>
                  <a:srgbClr val="1C2430"/>
                </a:solidFill>
                <a:latin typeface="Calibri"/>
              </a:rPr>
              <a:t>A new account is not treated like an old one.</a:t>
            </a:r>
          </a:p>
        </p:txBody>
      </p:sp>
      <p:sp>
        <p:nvSpPr>
          <p:cNvPr id="9" name="Rounded Rectangle 8"/>
          <p:cNvSpPr/>
          <p:nvPr/>
        </p:nvSpPr>
        <p:spPr>
          <a:xfrm>
            <a:off x="365760" y="2697480"/>
            <a:ext cx="5760720" cy="102412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807208"/>
            <a:ext cx="5394960" cy="320040"/>
          </a:xfrm>
          <a:prstGeom prst="rect">
            <a:avLst/>
          </a:prstGeom>
          <a:noFill/>
        </p:spPr>
        <p:txBody>
          <a:bodyPr wrap="square"/>
          <a:lstStyle/>
          <a:p>
            <a:pPr algn="l"/>
            <a:r>
              <a:rPr sz="1600" b="1">
                <a:solidFill>
                  <a:srgbClr val="122B45"/>
                </a:solidFill>
                <a:latin typeface="Calibri"/>
              </a:rPr>
              <a:t>The post</a:t>
            </a:r>
          </a:p>
        </p:txBody>
      </p:sp>
      <p:sp>
        <p:nvSpPr>
          <p:cNvPr id="11" name="TextBox 10"/>
          <p:cNvSpPr txBox="1"/>
          <p:nvPr/>
        </p:nvSpPr>
        <p:spPr>
          <a:xfrm>
            <a:off x="566928" y="3154680"/>
            <a:ext cx="5394960" cy="457200"/>
          </a:xfrm>
          <a:prstGeom prst="rect">
            <a:avLst/>
          </a:prstGeom>
          <a:noFill/>
        </p:spPr>
        <p:txBody>
          <a:bodyPr wrap="square"/>
          <a:lstStyle/>
          <a:p>
            <a:pPr algn="l"/>
            <a:r>
              <a:rPr sz="1400" b="0">
                <a:solidFill>
                  <a:srgbClr val="1C2430"/>
                </a:solidFill>
                <a:latin typeface="Calibri"/>
              </a:rPr>
              <a:t>Mood, length, and whether it is a question, help, a suggestion, or a review.</a:t>
            </a:r>
          </a:p>
        </p:txBody>
      </p:sp>
      <p:sp>
        <p:nvSpPr>
          <p:cNvPr id="12" name="Rounded Rectangle 11"/>
          <p:cNvSpPr/>
          <p:nvPr/>
        </p:nvSpPr>
        <p:spPr>
          <a:xfrm>
            <a:off x="365760" y="3840480"/>
            <a:ext cx="5760720" cy="102412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950208"/>
            <a:ext cx="5394960" cy="320040"/>
          </a:xfrm>
          <a:prstGeom prst="rect">
            <a:avLst/>
          </a:prstGeom>
          <a:noFill/>
        </p:spPr>
        <p:txBody>
          <a:bodyPr wrap="square"/>
          <a:lstStyle/>
          <a:p>
            <a:pPr algn="l"/>
            <a:r>
              <a:rPr sz="1600" b="1">
                <a:solidFill>
                  <a:srgbClr val="122B45"/>
                </a:solidFill>
                <a:latin typeface="Calibri"/>
              </a:rPr>
              <a:t>The community rules</a:t>
            </a:r>
          </a:p>
        </p:txBody>
      </p:sp>
      <p:sp>
        <p:nvSpPr>
          <p:cNvPr id="14" name="TextBox 13"/>
          <p:cNvSpPr txBox="1"/>
          <p:nvPr/>
        </p:nvSpPr>
        <p:spPr>
          <a:xfrm>
            <a:off x="566928" y="4297680"/>
            <a:ext cx="5394960" cy="457200"/>
          </a:xfrm>
          <a:prstGeom prst="rect">
            <a:avLst/>
          </a:prstGeom>
          <a:noFill/>
        </p:spPr>
        <p:txBody>
          <a:bodyPr wrap="square"/>
          <a:lstStyle/>
          <a:p>
            <a:pPr algn="l"/>
            <a:r>
              <a:rPr sz="1400" b="0">
                <a:solidFill>
                  <a:srgbClr val="1C2430"/>
                </a:solidFill>
                <a:latin typeface="Calibri"/>
              </a:rPr>
              <a:t>How many rules, how strict, and whether they were read.</a:t>
            </a:r>
          </a:p>
        </p:txBody>
      </p:sp>
      <p:sp>
        <p:nvSpPr>
          <p:cNvPr id="15" name="Rounded Rectangle 14"/>
          <p:cNvSpPr/>
          <p:nvPr/>
        </p:nvSpPr>
        <p:spPr>
          <a:xfrm>
            <a:off x="365760" y="4983480"/>
            <a:ext cx="5760720" cy="102412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5093208"/>
            <a:ext cx="5394960" cy="320040"/>
          </a:xfrm>
          <a:prstGeom prst="rect">
            <a:avLst/>
          </a:prstGeom>
          <a:noFill/>
        </p:spPr>
        <p:txBody>
          <a:bodyPr wrap="square"/>
          <a:lstStyle/>
          <a:p>
            <a:pPr algn="l"/>
            <a:r>
              <a:rPr sz="1600" b="1">
                <a:solidFill>
                  <a:srgbClr val="122B45"/>
                </a:solidFill>
                <a:latin typeface="Calibri"/>
              </a:rPr>
              <a:t>The moment</a:t>
            </a:r>
          </a:p>
        </p:txBody>
      </p:sp>
      <p:sp>
        <p:nvSpPr>
          <p:cNvPr id="17" name="TextBox 16"/>
          <p:cNvSpPr txBox="1"/>
          <p:nvPr/>
        </p:nvSpPr>
        <p:spPr>
          <a:xfrm>
            <a:off x="566928" y="5440680"/>
            <a:ext cx="5394960" cy="457200"/>
          </a:xfrm>
          <a:prstGeom prst="rect">
            <a:avLst/>
          </a:prstGeom>
          <a:noFill/>
        </p:spPr>
        <p:txBody>
          <a:bodyPr wrap="square"/>
          <a:lstStyle/>
          <a:p>
            <a:pPr algn="l"/>
            <a:r>
              <a:rPr sz="1400" b="0">
                <a:solidFill>
                  <a:srgbClr val="1C2430"/>
                </a:solidFill>
                <a:latin typeface="Calibri"/>
              </a:rPr>
              <a:t>Time of day, weekday, and how many comments this sitting already has.</a:t>
            </a:r>
          </a:p>
        </p:txBody>
      </p:sp>
      <p:sp>
        <p:nvSpPr>
          <p:cNvPr id="18" name="Rounded Rectangle 17"/>
          <p:cNvSpPr/>
          <p:nvPr/>
        </p:nvSpPr>
        <p:spPr>
          <a:xfrm>
            <a:off x="6309360" y="1554480"/>
            <a:ext cx="5486400" cy="1024128"/>
          </a:xfrm>
          <a:prstGeom prst="roundRect">
            <a:avLst>
              <a:gd name="adj" fmla="val 8000"/>
            </a:avLst>
          </a:prstGeom>
          <a:solidFill>
            <a:srgbClr val="EEF4F0"/>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1664207"/>
            <a:ext cx="5120640" cy="320040"/>
          </a:xfrm>
          <a:prstGeom prst="rect">
            <a:avLst/>
          </a:prstGeom>
          <a:noFill/>
        </p:spPr>
        <p:txBody>
          <a:bodyPr wrap="square"/>
          <a:lstStyle/>
          <a:p>
            <a:pPr algn="l"/>
            <a:r>
              <a:rPr sz="1600" b="1">
                <a:solidFill>
                  <a:srgbClr val="122B45"/>
                </a:solidFill>
                <a:latin typeface="Calibri"/>
              </a:rPr>
              <a:t>Comment, or only read</a:t>
            </a:r>
          </a:p>
        </p:txBody>
      </p:sp>
      <p:sp>
        <p:nvSpPr>
          <p:cNvPr id="20" name="TextBox 19"/>
          <p:cNvSpPr txBox="1"/>
          <p:nvPr/>
        </p:nvSpPr>
        <p:spPr>
          <a:xfrm>
            <a:off x="6510528" y="2011680"/>
            <a:ext cx="5120640" cy="457200"/>
          </a:xfrm>
          <a:prstGeom prst="rect">
            <a:avLst/>
          </a:prstGeom>
          <a:noFill/>
        </p:spPr>
        <p:txBody>
          <a:bodyPr wrap="square"/>
          <a:lstStyle/>
          <a:p>
            <a:pPr algn="l"/>
            <a:r>
              <a:rPr sz="1400" b="0">
                <a:solidFill>
                  <a:srgbClr val="1C2430"/>
                </a:solidFill>
                <a:latin typeface="Calibri"/>
              </a:rPr>
              <a:t>After it has read that community’s rules.</a:t>
            </a:r>
          </a:p>
        </p:txBody>
      </p:sp>
      <p:sp>
        <p:nvSpPr>
          <p:cNvPr id="21" name="Rounded Rectangle 20"/>
          <p:cNvSpPr/>
          <p:nvPr/>
        </p:nvSpPr>
        <p:spPr>
          <a:xfrm>
            <a:off x="6309360" y="2697480"/>
            <a:ext cx="5486400" cy="1024128"/>
          </a:xfrm>
          <a:prstGeom prst="roundRect">
            <a:avLst>
              <a:gd name="adj" fmla="val 8000"/>
            </a:avLst>
          </a:prstGeom>
          <a:solidFill>
            <a:srgbClr val="EEF4F0"/>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2807208"/>
            <a:ext cx="5120640" cy="320040"/>
          </a:xfrm>
          <a:prstGeom prst="rect">
            <a:avLst/>
          </a:prstGeom>
          <a:noFill/>
        </p:spPr>
        <p:txBody>
          <a:bodyPr wrap="square"/>
          <a:lstStyle/>
          <a:p>
            <a:pPr algn="l"/>
            <a:r>
              <a:rPr sz="1600" b="1">
                <a:solidFill>
                  <a:srgbClr val="122B45"/>
                </a:solidFill>
                <a:latin typeface="Calibri"/>
              </a:rPr>
              <a:t>The tone</a:t>
            </a:r>
          </a:p>
        </p:txBody>
      </p:sp>
      <p:sp>
        <p:nvSpPr>
          <p:cNvPr id="23" name="TextBox 22"/>
          <p:cNvSpPr txBox="1"/>
          <p:nvPr/>
        </p:nvSpPr>
        <p:spPr>
          <a:xfrm>
            <a:off x="6510528" y="3154680"/>
            <a:ext cx="5120640" cy="457200"/>
          </a:xfrm>
          <a:prstGeom prst="rect">
            <a:avLst/>
          </a:prstGeom>
          <a:noFill/>
        </p:spPr>
        <p:txBody>
          <a:bodyPr wrap="square"/>
          <a:lstStyle/>
          <a:p>
            <a:pPr algn="l"/>
            <a:r>
              <a:rPr sz="1400" b="0">
                <a:solidFill>
                  <a:srgbClr val="1C2430"/>
                </a:solidFill>
                <a:latin typeface="Calibri"/>
              </a:rPr>
              <a:t>Friendly, expert, funny, or neutral.</a:t>
            </a:r>
          </a:p>
        </p:txBody>
      </p:sp>
      <p:sp>
        <p:nvSpPr>
          <p:cNvPr id="24" name="Rounded Rectangle 23"/>
          <p:cNvSpPr/>
          <p:nvPr/>
        </p:nvSpPr>
        <p:spPr>
          <a:xfrm>
            <a:off x="6309360" y="3840480"/>
            <a:ext cx="5486400" cy="1024128"/>
          </a:xfrm>
          <a:prstGeom prst="roundRect">
            <a:avLst>
              <a:gd name="adj" fmla="val 8000"/>
            </a:avLst>
          </a:prstGeom>
          <a:solidFill>
            <a:srgbClr val="EEF4F0"/>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0528" y="3950208"/>
            <a:ext cx="5120640" cy="320040"/>
          </a:xfrm>
          <a:prstGeom prst="rect">
            <a:avLst/>
          </a:prstGeom>
          <a:noFill/>
        </p:spPr>
        <p:txBody>
          <a:bodyPr wrap="square"/>
          <a:lstStyle/>
          <a:p>
            <a:pPr algn="l"/>
            <a:r>
              <a:rPr sz="1600" b="1">
                <a:solidFill>
                  <a:srgbClr val="122B45"/>
                </a:solidFill>
                <a:latin typeface="Calibri"/>
              </a:rPr>
              <a:t>Skip the thread</a:t>
            </a:r>
          </a:p>
        </p:txBody>
      </p:sp>
      <p:sp>
        <p:nvSpPr>
          <p:cNvPr id="26" name="TextBox 25"/>
          <p:cNvSpPr txBox="1"/>
          <p:nvPr/>
        </p:nvSpPr>
        <p:spPr>
          <a:xfrm>
            <a:off x="6510528" y="4297680"/>
            <a:ext cx="5120640" cy="457200"/>
          </a:xfrm>
          <a:prstGeom prst="rect">
            <a:avLst/>
          </a:prstGeom>
          <a:noFill/>
        </p:spPr>
        <p:txBody>
          <a:bodyPr wrap="square"/>
          <a:lstStyle/>
          <a:p>
            <a:pPr algn="l"/>
            <a:r>
              <a:rPr sz="1400" b="0">
                <a:solidFill>
                  <a:srgbClr val="1C2430"/>
                </a:solidFill>
                <a:latin typeface="Calibri"/>
              </a:rPr>
              <a:t>When this kind of thread has been getting removals.</a:t>
            </a:r>
          </a:p>
        </p:txBody>
      </p:sp>
      <p:sp>
        <p:nvSpPr>
          <p:cNvPr id="27" name="Rounded Rectangle 26"/>
          <p:cNvSpPr/>
          <p:nvPr/>
        </p:nvSpPr>
        <p:spPr>
          <a:xfrm>
            <a:off x="6309360" y="4983480"/>
            <a:ext cx="5486400" cy="1024128"/>
          </a:xfrm>
          <a:prstGeom prst="roundRect">
            <a:avLst>
              <a:gd name="adj" fmla="val 8000"/>
            </a:avLst>
          </a:prstGeom>
          <a:solidFill>
            <a:srgbClr val="EEF4F0"/>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5093208"/>
            <a:ext cx="5120640" cy="320040"/>
          </a:xfrm>
          <a:prstGeom prst="rect">
            <a:avLst/>
          </a:prstGeom>
          <a:noFill/>
        </p:spPr>
        <p:txBody>
          <a:bodyPr wrap="square"/>
          <a:lstStyle/>
          <a:p>
            <a:pPr algn="l"/>
            <a:r>
              <a:rPr sz="1600" b="1">
                <a:solidFill>
                  <a:srgbClr val="122B45"/>
                </a:solidFill>
                <a:latin typeface="Calibri"/>
              </a:rPr>
              <a:t>Where a post goes</a:t>
            </a:r>
          </a:p>
        </p:txBody>
      </p:sp>
      <p:sp>
        <p:nvSpPr>
          <p:cNvPr id="29" name="TextBox 28"/>
          <p:cNvSpPr txBox="1"/>
          <p:nvPr/>
        </p:nvSpPr>
        <p:spPr>
          <a:xfrm>
            <a:off x="6510528" y="5440680"/>
            <a:ext cx="5120640" cy="457200"/>
          </a:xfrm>
          <a:prstGeom prst="rect">
            <a:avLst/>
          </a:prstGeom>
          <a:noFill/>
        </p:spPr>
        <p:txBody>
          <a:bodyPr wrap="square"/>
          <a:lstStyle/>
          <a:p>
            <a:pPr algn="l"/>
            <a:r>
              <a:rPr sz="1400" b="0">
                <a:solidFill>
                  <a:srgbClr val="1C2430"/>
                </a:solidFill>
                <a:latin typeface="Calibri"/>
              </a:rPr>
              <a:t>If the first community fails, which one to try next.</a:t>
            </a:r>
          </a:p>
        </p:txBody>
      </p:sp>
      <p:sp>
        <p:nvSpPr>
          <p:cNvPr id="30" name="TextBox 29"/>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31" name="TextBox 30"/>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How a lesson is learned</a:t>
            </a:r>
          </a:p>
        </p:txBody>
      </p:sp>
      <p:sp>
        <p:nvSpPr>
          <p:cNvPr id="5" name="Rounded Rectangle 4"/>
          <p:cNvSpPr/>
          <p:nvPr/>
        </p:nvSpPr>
        <p:spPr>
          <a:xfrm>
            <a:off x="365760" y="960120"/>
            <a:ext cx="7589520" cy="111556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52728"/>
            <a:ext cx="548640" cy="457200"/>
          </a:xfrm>
          <a:prstGeom prst="rect">
            <a:avLst/>
          </a:prstGeom>
          <a:noFill/>
        </p:spPr>
        <p:txBody>
          <a:bodyPr wrap="square"/>
          <a:lstStyle/>
          <a:p>
            <a:pPr algn="l"/>
            <a:r>
              <a:rPr sz="2200" b="1">
                <a:solidFill>
                  <a:srgbClr val="C45C26"/>
                </a:solidFill>
                <a:latin typeface="Calibri"/>
              </a:rPr>
              <a:t>1</a:t>
            </a:r>
          </a:p>
        </p:txBody>
      </p:sp>
      <p:sp>
        <p:nvSpPr>
          <p:cNvPr id="7" name="TextBox 6"/>
          <p:cNvSpPr txBox="1"/>
          <p:nvPr/>
        </p:nvSpPr>
        <p:spPr>
          <a:xfrm>
            <a:off x="1188720" y="1097280"/>
            <a:ext cx="6492240" cy="365760"/>
          </a:xfrm>
          <a:prstGeom prst="rect">
            <a:avLst/>
          </a:prstGeom>
          <a:noFill/>
        </p:spPr>
        <p:txBody>
          <a:bodyPr wrap="square"/>
          <a:lstStyle/>
          <a:p>
            <a:pPr algn="l"/>
            <a:r>
              <a:rPr sz="1800" b="1">
                <a:solidFill>
                  <a:srgbClr val="122B45"/>
                </a:solidFill>
                <a:latin typeface="Calibri"/>
              </a:rPr>
              <a:t>It chooses</a:t>
            </a:r>
          </a:p>
        </p:txBody>
      </p:sp>
      <p:sp>
        <p:nvSpPr>
          <p:cNvPr id="8" name="TextBox 7"/>
          <p:cNvSpPr txBox="1"/>
          <p:nvPr/>
        </p:nvSpPr>
        <p:spPr>
          <a:xfrm>
            <a:off x="1188720" y="1508760"/>
            <a:ext cx="6492240" cy="411480"/>
          </a:xfrm>
          <a:prstGeom prst="rect">
            <a:avLst/>
          </a:prstGeom>
          <a:noFill/>
        </p:spPr>
        <p:txBody>
          <a:bodyPr wrap="square"/>
          <a:lstStyle/>
          <a:p>
            <a:pPr algn="l"/>
            <a:r>
              <a:rPr sz="1500" b="0">
                <a:solidFill>
                  <a:srgbClr val="1C2430"/>
                </a:solidFill>
                <a:latin typeface="Calibri"/>
              </a:rPr>
              <a:t>Comment or read. A tone. Or skip.</a:t>
            </a:r>
          </a:p>
        </p:txBody>
      </p:sp>
      <p:sp>
        <p:nvSpPr>
          <p:cNvPr id="9" name="Rounded Rectangle 8"/>
          <p:cNvSpPr/>
          <p:nvPr/>
        </p:nvSpPr>
        <p:spPr>
          <a:xfrm>
            <a:off x="365760" y="2194560"/>
            <a:ext cx="7589520" cy="111556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487168"/>
            <a:ext cx="548640" cy="457200"/>
          </a:xfrm>
          <a:prstGeom prst="rect">
            <a:avLst/>
          </a:prstGeom>
          <a:noFill/>
        </p:spPr>
        <p:txBody>
          <a:bodyPr wrap="square"/>
          <a:lstStyle/>
          <a:p>
            <a:pPr algn="l"/>
            <a:r>
              <a:rPr sz="2200" b="1">
                <a:solidFill>
                  <a:srgbClr val="C45C26"/>
                </a:solidFill>
                <a:latin typeface="Calibri"/>
              </a:rPr>
              <a:t>2</a:t>
            </a:r>
          </a:p>
        </p:txBody>
      </p:sp>
      <p:sp>
        <p:nvSpPr>
          <p:cNvPr id="11" name="TextBox 10"/>
          <p:cNvSpPr txBox="1"/>
          <p:nvPr/>
        </p:nvSpPr>
        <p:spPr>
          <a:xfrm>
            <a:off x="1188720" y="2331720"/>
            <a:ext cx="6492240" cy="365760"/>
          </a:xfrm>
          <a:prstGeom prst="rect">
            <a:avLst/>
          </a:prstGeom>
          <a:noFill/>
        </p:spPr>
        <p:txBody>
          <a:bodyPr wrap="square"/>
          <a:lstStyle/>
          <a:p>
            <a:pPr algn="l"/>
            <a:r>
              <a:rPr sz="1800" b="1">
                <a:solidFill>
                  <a:srgbClr val="122B45"/>
                </a:solidFill>
                <a:latin typeface="Calibri"/>
              </a:rPr>
              <a:t>It scores the action now</a:t>
            </a:r>
          </a:p>
        </p:txBody>
      </p:sp>
      <p:sp>
        <p:nvSpPr>
          <p:cNvPr id="12" name="TextBox 11"/>
          <p:cNvSpPr txBox="1"/>
          <p:nvPr/>
        </p:nvSpPr>
        <p:spPr>
          <a:xfrm>
            <a:off x="1188720" y="2743200"/>
            <a:ext cx="6492240" cy="411480"/>
          </a:xfrm>
          <a:prstGeom prst="rect">
            <a:avLst/>
          </a:prstGeom>
          <a:noFill/>
        </p:spPr>
        <p:txBody>
          <a:bodyPr wrap="square"/>
          <a:lstStyle/>
          <a:p>
            <a:pPr algn="l"/>
            <a:r>
              <a:rPr sz="1500" b="0">
                <a:solidFill>
                  <a:srgbClr val="1C2430"/>
                </a:solidFill>
                <a:latin typeface="Calibri"/>
              </a:rPr>
              <a:t>Rules were read. The join worked. The comment is visible on the thread.</a:t>
            </a:r>
          </a:p>
        </p:txBody>
      </p:sp>
      <p:sp>
        <p:nvSpPr>
          <p:cNvPr id="13" name="Rounded Rectangle 12"/>
          <p:cNvSpPr/>
          <p:nvPr/>
        </p:nvSpPr>
        <p:spPr>
          <a:xfrm>
            <a:off x="365760" y="3429000"/>
            <a:ext cx="7589520" cy="111556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721608"/>
            <a:ext cx="548640" cy="457200"/>
          </a:xfrm>
          <a:prstGeom prst="rect">
            <a:avLst/>
          </a:prstGeom>
          <a:noFill/>
        </p:spPr>
        <p:txBody>
          <a:bodyPr wrap="square"/>
          <a:lstStyle/>
          <a:p>
            <a:pPr algn="l"/>
            <a:r>
              <a:rPr sz="2200" b="1">
                <a:solidFill>
                  <a:srgbClr val="C45C26"/>
                </a:solidFill>
                <a:latin typeface="Calibri"/>
              </a:rPr>
              <a:t>3</a:t>
            </a:r>
          </a:p>
        </p:txBody>
      </p:sp>
      <p:sp>
        <p:nvSpPr>
          <p:cNvPr id="15" name="TextBox 14"/>
          <p:cNvSpPr txBox="1"/>
          <p:nvPr/>
        </p:nvSpPr>
        <p:spPr>
          <a:xfrm>
            <a:off x="1188720" y="3566160"/>
            <a:ext cx="6492240" cy="365760"/>
          </a:xfrm>
          <a:prstGeom prst="rect">
            <a:avLst/>
          </a:prstGeom>
          <a:noFill/>
        </p:spPr>
        <p:txBody>
          <a:bodyPr wrap="square"/>
          <a:lstStyle/>
          <a:p>
            <a:pPr algn="l"/>
            <a:r>
              <a:rPr sz="1800" b="1">
                <a:solidFill>
                  <a:srgbClr val="122B45"/>
                </a:solidFill>
                <a:latin typeface="Calibri"/>
              </a:rPr>
              <a:t>It checks again later</a:t>
            </a:r>
          </a:p>
        </p:txBody>
      </p:sp>
      <p:sp>
        <p:nvSpPr>
          <p:cNvPr id="16" name="TextBox 15"/>
          <p:cNvSpPr txBox="1"/>
          <p:nvPr/>
        </p:nvSpPr>
        <p:spPr>
          <a:xfrm>
            <a:off x="1188720" y="3977639"/>
            <a:ext cx="6492240" cy="411480"/>
          </a:xfrm>
          <a:prstGeom prst="rect">
            <a:avLst/>
          </a:prstGeom>
          <a:noFill/>
        </p:spPr>
        <p:txBody>
          <a:bodyPr wrap="square"/>
          <a:lstStyle/>
          <a:p>
            <a:pPr algn="l"/>
            <a:r>
              <a:rPr sz="1500" b="0">
                <a:solidFill>
                  <a:srgbClr val="1C2430"/>
                </a:solidFill>
                <a:latin typeface="Calibri"/>
              </a:rPr>
              <a:t>Still live and upvoted. Filtered. Removed. Or the score went down.</a:t>
            </a:r>
          </a:p>
        </p:txBody>
      </p:sp>
      <p:sp>
        <p:nvSpPr>
          <p:cNvPr id="17" name="Rounded Rectangle 16"/>
          <p:cNvSpPr/>
          <p:nvPr/>
        </p:nvSpPr>
        <p:spPr>
          <a:xfrm>
            <a:off x="365760" y="4663440"/>
            <a:ext cx="7589520" cy="111556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956048"/>
            <a:ext cx="548640" cy="457200"/>
          </a:xfrm>
          <a:prstGeom prst="rect">
            <a:avLst/>
          </a:prstGeom>
          <a:noFill/>
        </p:spPr>
        <p:txBody>
          <a:bodyPr wrap="square"/>
          <a:lstStyle/>
          <a:p>
            <a:pPr algn="l"/>
            <a:r>
              <a:rPr sz="2200" b="1">
                <a:solidFill>
                  <a:srgbClr val="C45C26"/>
                </a:solidFill>
                <a:latin typeface="Calibri"/>
              </a:rPr>
              <a:t>4</a:t>
            </a:r>
          </a:p>
        </p:txBody>
      </p:sp>
      <p:sp>
        <p:nvSpPr>
          <p:cNvPr id="19" name="TextBox 18"/>
          <p:cNvSpPr txBox="1"/>
          <p:nvPr/>
        </p:nvSpPr>
        <p:spPr>
          <a:xfrm>
            <a:off x="1188720" y="4800600"/>
            <a:ext cx="6492240" cy="365760"/>
          </a:xfrm>
          <a:prstGeom prst="rect">
            <a:avLst/>
          </a:prstGeom>
          <a:noFill/>
        </p:spPr>
        <p:txBody>
          <a:bodyPr wrap="square"/>
          <a:lstStyle/>
          <a:p>
            <a:pPr algn="l"/>
            <a:r>
              <a:rPr sz="1800" b="1">
                <a:solidFill>
                  <a:srgbClr val="122B45"/>
                </a:solidFill>
                <a:latin typeface="Calibri"/>
              </a:rPr>
              <a:t>It changes the next choice</a:t>
            </a:r>
          </a:p>
        </p:txBody>
      </p:sp>
      <p:sp>
        <p:nvSpPr>
          <p:cNvPr id="20" name="TextBox 19"/>
          <p:cNvSpPr txBox="1"/>
          <p:nvPr/>
        </p:nvSpPr>
        <p:spPr>
          <a:xfrm>
            <a:off x="1188720" y="5212080"/>
            <a:ext cx="6492240" cy="411480"/>
          </a:xfrm>
          <a:prstGeom prst="rect">
            <a:avLst/>
          </a:prstGeom>
          <a:noFill/>
        </p:spPr>
        <p:txBody>
          <a:bodyPr wrap="square"/>
          <a:lstStyle/>
          <a:p>
            <a:pPr algn="l"/>
            <a:r>
              <a:rPr sz="1500" b="0">
                <a:solidFill>
                  <a:srgbClr val="1C2430"/>
                </a:solidFill>
                <a:latin typeface="Calibri"/>
              </a:rPr>
              <a:t>A tone that keeps getting removed in that kind of community is dropped.</a:t>
            </a:r>
          </a:p>
        </p:txBody>
      </p:sp>
      <p:sp>
        <p:nvSpPr>
          <p:cNvPr id="21" name="Rounded Rectangle 20"/>
          <p:cNvSpPr/>
          <p:nvPr/>
        </p:nvSpPr>
        <p:spPr>
          <a:xfrm>
            <a:off x="8138160" y="960120"/>
            <a:ext cx="3657600" cy="4937760"/>
          </a:xfrm>
          <a:prstGeom prst="roundRect">
            <a:avLst>
              <a:gd name="adj" fmla="val 8000"/>
            </a:avLst>
          </a:prstGeom>
          <a:solidFill>
            <a:srgbClr val="122B45"/>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234440"/>
            <a:ext cx="3246120" cy="731520"/>
          </a:xfrm>
          <a:prstGeom prst="rect">
            <a:avLst/>
          </a:prstGeom>
          <a:noFill/>
        </p:spPr>
        <p:txBody>
          <a:bodyPr wrap="square"/>
          <a:lstStyle/>
          <a:p>
            <a:pPr algn="l"/>
            <a:r>
              <a:rPr sz="1600" b="1">
                <a:solidFill>
                  <a:srgbClr val="E8B896"/>
                </a:solidFill>
                <a:latin typeface="Calibri"/>
              </a:rPr>
              <a:t>What the scores mean</a:t>
            </a:r>
          </a:p>
        </p:txBody>
      </p:sp>
      <p:sp>
        <p:nvSpPr>
          <p:cNvPr id="23" name="TextBox 22"/>
          <p:cNvSpPr txBox="1"/>
          <p:nvPr/>
        </p:nvSpPr>
        <p:spPr>
          <a:xfrm>
            <a:off x="8366760" y="2103120"/>
            <a:ext cx="2011680" cy="365760"/>
          </a:xfrm>
          <a:prstGeom prst="rect">
            <a:avLst/>
          </a:prstGeom>
          <a:noFill/>
        </p:spPr>
        <p:txBody>
          <a:bodyPr wrap="square"/>
          <a:lstStyle/>
          <a:p>
            <a:pPr algn="l"/>
            <a:r>
              <a:rPr sz="1400" b="0">
                <a:solidFill>
                  <a:srgbClr val="FFFFFF"/>
                </a:solidFill>
                <a:latin typeface="Calibri"/>
              </a:rPr>
              <a:t>Comment stayed up</a:t>
            </a:r>
          </a:p>
        </p:txBody>
      </p:sp>
      <p:sp>
        <p:nvSpPr>
          <p:cNvPr id="24" name="TextBox 23"/>
          <p:cNvSpPr txBox="1"/>
          <p:nvPr/>
        </p:nvSpPr>
        <p:spPr>
          <a:xfrm>
            <a:off x="10241280" y="2103120"/>
            <a:ext cx="1325880" cy="365760"/>
          </a:xfrm>
          <a:prstGeom prst="rect">
            <a:avLst/>
          </a:prstGeom>
          <a:noFill/>
        </p:spPr>
        <p:txBody>
          <a:bodyPr wrap="square"/>
          <a:lstStyle/>
          <a:p>
            <a:pPr algn="l"/>
            <a:r>
              <a:rPr sz="1400" b="1">
                <a:solidFill>
                  <a:srgbClr val="E8B896"/>
                </a:solidFill>
                <a:latin typeface="Calibri"/>
              </a:rPr>
              <a:t>Good</a:t>
            </a:r>
          </a:p>
        </p:txBody>
      </p:sp>
      <p:sp>
        <p:nvSpPr>
          <p:cNvPr id="25" name="TextBox 24"/>
          <p:cNvSpPr txBox="1"/>
          <p:nvPr/>
        </p:nvSpPr>
        <p:spPr>
          <a:xfrm>
            <a:off x="8366760" y="2670048"/>
            <a:ext cx="2011680" cy="365760"/>
          </a:xfrm>
          <a:prstGeom prst="rect">
            <a:avLst/>
          </a:prstGeom>
          <a:noFill/>
        </p:spPr>
        <p:txBody>
          <a:bodyPr wrap="square"/>
          <a:lstStyle/>
          <a:p>
            <a:pPr algn="l"/>
            <a:r>
              <a:rPr sz="1400" b="0">
                <a:solidFill>
                  <a:srgbClr val="FFFFFF"/>
                </a:solidFill>
                <a:latin typeface="Calibri"/>
              </a:rPr>
              <a:t>Upvotes</a:t>
            </a:r>
          </a:p>
        </p:txBody>
      </p:sp>
      <p:sp>
        <p:nvSpPr>
          <p:cNvPr id="26" name="TextBox 25"/>
          <p:cNvSpPr txBox="1"/>
          <p:nvPr/>
        </p:nvSpPr>
        <p:spPr>
          <a:xfrm>
            <a:off x="10241280" y="2670048"/>
            <a:ext cx="1325880" cy="365760"/>
          </a:xfrm>
          <a:prstGeom prst="rect">
            <a:avLst/>
          </a:prstGeom>
          <a:noFill/>
        </p:spPr>
        <p:txBody>
          <a:bodyPr wrap="square"/>
          <a:lstStyle/>
          <a:p>
            <a:pPr algn="l"/>
            <a:r>
              <a:rPr sz="1400" b="1">
                <a:solidFill>
                  <a:srgbClr val="E8B896"/>
                </a:solidFill>
                <a:latin typeface="Calibri"/>
              </a:rPr>
              <a:t>Better</a:t>
            </a:r>
          </a:p>
        </p:txBody>
      </p:sp>
      <p:sp>
        <p:nvSpPr>
          <p:cNvPr id="27" name="TextBox 26"/>
          <p:cNvSpPr txBox="1"/>
          <p:nvPr/>
        </p:nvSpPr>
        <p:spPr>
          <a:xfrm>
            <a:off x="8366760" y="3236976"/>
            <a:ext cx="2011680" cy="365760"/>
          </a:xfrm>
          <a:prstGeom prst="rect">
            <a:avLst/>
          </a:prstGeom>
          <a:noFill/>
        </p:spPr>
        <p:txBody>
          <a:bodyPr wrap="square"/>
          <a:lstStyle/>
          <a:p>
            <a:pPr algn="l"/>
            <a:r>
              <a:rPr sz="1400" b="0">
                <a:solidFill>
                  <a:srgbClr val="FFFFFF"/>
                </a:solidFill>
                <a:latin typeface="Calibri"/>
              </a:rPr>
              <a:t>Filtered</a:t>
            </a:r>
          </a:p>
        </p:txBody>
      </p:sp>
      <p:sp>
        <p:nvSpPr>
          <p:cNvPr id="28" name="TextBox 27"/>
          <p:cNvSpPr txBox="1"/>
          <p:nvPr/>
        </p:nvSpPr>
        <p:spPr>
          <a:xfrm>
            <a:off x="10241280" y="3236976"/>
            <a:ext cx="1325880" cy="365760"/>
          </a:xfrm>
          <a:prstGeom prst="rect">
            <a:avLst/>
          </a:prstGeom>
          <a:noFill/>
        </p:spPr>
        <p:txBody>
          <a:bodyPr wrap="square"/>
          <a:lstStyle/>
          <a:p>
            <a:pPr algn="l"/>
            <a:r>
              <a:rPr sz="1400" b="1">
                <a:solidFill>
                  <a:srgbClr val="E8B896"/>
                </a:solidFill>
                <a:latin typeface="Calibri"/>
              </a:rPr>
              <a:t>Avoid</a:t>
            </a:r>
          </a:p>
        </p:txBody>
      </p:sp>
      <p:sp>
        <p:nvSpPr>
          <p:cNvPr id="29" name="TextBox 28"/>
          <p:cNvSpPr txBox="1"/>
          <p:nvPr/>
        </p:nvSpPr>
        <p:spPr>
          <a:xfrm>
            <a:off x="8366760" y="3803904"/>
            <a:ext cx="2011680" cy="365760"/>
          </a:xfrm>
          <a:prstGeom prst="rect">
            <a:avLst/>
          </a:prstGeom>
          <a:noFill/>
        </p:spPr>
        <p:txBody>
          <a:bodyPr wrap="square"/>
          <a:lstStyle/>
          <a:p>
            <a:pPr algn="l"/>
            <a:r>
              <a:rPr sz="1400" b="0">
                <a:solidFill>
                  <a:srgbClr val="FFFFFF"/>
                </a:solidFill>
                <a:latin typeface="Calibri"/>
              </a:rPr>
              <a:t>Removed</a:t>
            </a:r>
          </a:p>
        </p:txBody>
      </p:sp>
      <p:sp>
        <p:nvSpPr>
          <p:cNvPr id="30" name="TextBox 29"/>
          <p:cNvSpPr txBox="1"/>
          <p:nvPr/>
        </p:nvSpPr>
        <p:spPr>
          <a:xfrm>
            <a:off x="10241280" y="3803904"/>
            <a:ext cx="1325880" cy="365760"/>
          </a:xfrm>
          <a:prstGeom prst="rect">
            <a:avLst/>
          </a:prstGeom>
          <a:noFill/>
        </p:spPr>
        <p:txBody>
          <a:bodyPr wrap="square"/>
          <a:lstStyle/>
          <a:p>
            <a:pPr algn="l"/>
            <a:r>
              <a:rPr sz="1400" b="1">
                <a:solidFill>
                  <a:srgbClr val="E8B896"/>
                </a:solidFill>
                <a:latin typeface="Calibri"/>
              </a:rPr>
              <a:t>Stop that choice</a:t>
            </a:r>
          </a:p>
        </p:txBody>
      </p:sp>
      <p:sp>
        <p:nvSpPr>
          <p:cNvPr id="31" name="TextBox 30"/>
          <p:cNvSpPr txBox="1"/>
          <p:nvPr/>
        </p:nvSpPr>
        <p:spPr>
          <a:xfrm>
            <a:off x="8366760" y="4370831"/>
            <a:ext cx="2011680" cy="365760"/>
          </a:xfrm>
          <a:prstGeom prst="rect">
            <a:avLst/>
          </a:prstGeom>
          <a:noFill/>
        </p:spPr>
        <p:txBody>
          <a:bodyPr wrap="square"/>
          <a:lstStyle/>
          <a:p>
            <a:pPr algn="l"/>
            <a:r>
              <a:rPr sz="1400" b="0">
                <a:solidFill>
                  <a:srgbClr val="FFFFFF"/>
                </a:solidFill>
                <a:latin typeface="Calibri"/>
              </a:rPr>
              <a:t>Post stayed up</a:t>
            </a:r>
          </a:p>
        </p:txBody>
      </p:sp>
      <p:sp>
        <p:nvSpPr>
          <p:cNvPr id="32" name="TextBox 31"/>
          <p:cNvSpPr txBox="1"/>
          <p:nvPr/>
        </p:nvSpPr>
        <p:spPr>
          <a:xfrm>
            <a:off x="10241280" y="4370831"/>
            <a:ext cx="1325880" cy="365760"/>
          </a:xfrm>
          <a:prstGeom prst="rect">
            <a:avLst/>
          </a:prstGeom>
          <a:noFill/>
        </p:spPr>
        <p:txBody>
          <a:bodyPr wrap="square"/>
          <a:lstStyle/>
          <a:p>
            <a:pPr algn="l"/>
            <a:r>
              <a:rPr sz="1400" b="1">
                <a:solidFill>
                  <a:srgbClr val="E8B896"/>
                </a:solidFill>
                <a:latin typeface="Calibri"/>
              </a:rPr>
              <a:t>Good</a:t>
            </a:r>
          </a:p>
        </p:txBody>
      </p:sp>
      <p:sp>
        <p:nvSpPr>
          <p:cNvPr id="33" name="TextBox 32"/>
          <p:cNvSpPr txBox="1"/>
          <p:nvPr/>
        </p:nvSpPr>
        <p:spPr>
          <a:xfrm>
            <a:off x="8366760" y="4937760"/>
            <a:ext cx="2011680" cy="365760"/>
          </a:xfrm>
          <a:prstGeom prst="rect">
            <a:avLst/>
          </a:prstGeom>
          <a:noFill/>
        </p:spPr>
        <p:txBody>
          <a:bodyPr wrap="square"/>
          <a:lstStyle/>
          <a:p>
            <a:pPr algn="l"/>
            <a:r>
              <a:rPr sz="1400" b="0">
                <a:solidFill>
                  <a:srgbClr val="FFFFFF"/>
                </a:solidFill>
                <a:latin typeface="Calibri"/>
              </a:rPr>
              <a:t>Post removed</a:t>
            </a:r>
          </a:p>
        </p:txBody>
      </p:sp>
      <p:sp>
        <p:nvSpPr>
          <p:cNvPr id="34" name="TextBox 33"/>
          <p:cNvSpPr txBox="1"/>
          <p:nvPr/>
        </p:nvSpPr>
        <p:spPr>
          <a:xfrm>
            <a:off x="10241280" y="4937760"/>
            <a:ext cx="1325880" cy="365760"/>
          </a:xfrm>
          <a:prstGeom prst="rect">
            <a:avLst/>
          </a:prstGeom>
          <a:noFill/>
        </p:spPr>
        <p:txBody>
          <a:bodyPr wrap="square"/>
          <a:lstStyle/>
          <a:p>
            <a:pPr algn="l"/>
            <a:r>
              <a:rPr sz="1400" b="1">
                <a:solidFill>
                  <a:srgbClr val="E8B896"/>
                </a:solidFill>
                <a:latin typeface="Calibri"/>
              </a:rPr>
              <a:t>Bad</a:t>
            </a:r>
          </a:p>
        </p:txBody>
      </p:sp>
      <p:sp>
        <p:nvSpPr>
          <p:cNvPr id="35" name="TextBox 34"/>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36" name="TextBox 35"/>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Results from the runs we already have</a:t>
            </a:r>
          </a:p>
        </p:txBody>
      </p:sp>
      <p:sp>
        <p:nvSpPr>
          <p:cNvPr id="5" name="TextBox 4"/>
          <p:cNvSpPr txBox="1"/>
          <p:nvPr/>
        </p:nvSpPr>
        <p:spPr>
          <a:xfrm>
            <a:off x="438912" y="841248"/>
            <a:ext cx="11155680" cy="292608"/>
          </a:xfrm>
          <a:prstGeom prst="rect">
            <a:avLst/>
          </a:prstGeom>
          <a:noFill/>
        </p:spPr>
        <p:txBody>
          <a:bodyPr wrap="square"/>
          <a:lstStyle/>
          <a:p>
            <a:pPr algn="l"/>
            <a:r>
              <a:rPr sz="1600" b="0">
                <a:solidFill>
                  <a:srgbClr val="5C6B7A"/>
                </a:solidFill>
                <a:latin typeface="Calibri"/>
              </a:rPr>
              <a:t>Logged from 27 Aug to 1 Oct 2026.    25 sessions.    100 account sittings.</a:t>
            </a:r>
          </a:p>
        </p:txBody>
      </p:sp>
      <p:sp>
        <p:nvSpPr>
          <p:cNvPr id="6" name="Rounded Rectangle 5"/>
          <p:cNvSpPr/>
          <p:nvPr/>
        </p:nvSpPr>
        <p:spPr>
          <a:xfrm>
            <a:off x="365760" y="1280160"/>
            <a:ext cx="2816352" cy="2788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417320"/>
            <a:ext cx="2514600" cy="685800"/>
          </a:xfrm>
          <a:prstGeom prst="rect">
            <a:avLst/>
          </a:prstGeom>
          <a:noFill/>
        </p:spPr>
        <p:txBody>
          <a:bodyPr wrap="square"/>
          <a:lstStyle/>
          <a:p>
            <a:pPr algn="l"/>
            <a:r>
              <a:rPr sz="3400" b="1">
                <a:solidFill>
                  <a:srgbClr val="C45C26"/>
                </a:solidFill>
                <a:latin typeface="Calibri"/>
              </a:rPr>
              <a:t>88%</a:t>
            </a:r>
          </a:p>
        </p:txBody>
      </p:sp>
      <p:sp>
        <p:nvSpPr>
          <p:cNvPr id="8" name="TextBox 7"/>
          <p:cNvSpPr txBox="1"/>
          <p:nvPr/>
        </p:nvSpPr>
        <p:spPr>
          <a:xfrm>
            <a:off x="512064" y="2194560"/>
            <a:ext cx="2514600" cy="960120"/>
          </a:xfrm>
          <a:prstGeom prst="rect">
            <a:avLst/>
          </a:prstGeom>
          <a:noFill/>
        </p:spPr>
        <p:txBody>
          <a:bodyPr wrap="square"/>
          <a:lstStyle/>
          <a:p>
            <a:pPr algn="l"/>
            <a:r>
              <a:rPr sz="1500" b="1">
                <a:solidFill>
                  <a:srgbClr val="122B45"/>
                </a:solidFill>
                <a:latin typeface="Calibri"/>
              </a:rPr>
              <a:t>of its decisions now score as a success</a:t>
            </a:r>
          </a:p>
        </p:txBody>
      </p:sp>
      <p:sp>
        <p:nvSpPr>
          <p:cNvPr id="9" name="TextBox 8"/>
          <p:cNvSpPr txBox="1"/>
          <p:nvPr/>
        </p:nvSpPr>
        <p:spPr>
          <a:xfrm>
            <a:off x="512064" y="3246120"/>
            <a:ext cx="2514600" cy="640080"/>
          </a:xfrm>
          <a:prstGeom prst="rect">
            <a:avLst/>
          </a:prstGeom>
          <a:noFill/>
        </p:spPr>
        <p:txBody>
          <a:bodyPr wrap="square"/>
          <a:lstStyle/>
          <a:p>
            <a:pPr algn="l"/>
            <a:r>
              <a:rPr sz="1300" b="0">
                <a:solidFill>
                  <a:srgbClr val="5C6B7A"/>
                </a:solidFill>
                <a:latin typeface="Calibri"/>
              </a:rPr>
              <a:t>Was 0 of 10 on the first log, 27 Aug.</a:t>
            </a:r>
          </a:p>
        </p:txBody>
      </p:sp>
      <p:sp>
        <p:nvSpPr>
          <p:cNvPr id="10" name="Rounded Rectangle 9"/>
          <p:cNvSpPr/>
          <p:nvPr/>
        </p:nvSpPr>
        <p:spPr>
          <a:xfrm>
            <a:off x="3310128" y="1280160"/>
            <a:ext cx="2816352" cy="2788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417320"/>
            <a:ext cx="2514600" cy="685800"/>
          </a:xfrm>
          <a:prstGeom prst="rect">
            <a:avLst/>
          </a:prstGeom>
          <a:noFill/>
        </p:spPr>
        <p:txBody>
          <a:bodyPr wrap="square"/>
          <a:lstStyle/>
          <a:p>
            <a:pPr algn="l"/>
            <a:r>
              <a:rPr sz="3400" b="1">
                <a:solidFill>
                  <a:srgbClr val="C45C26"/>
                </a:solidFill>
                <a:latin typeface="Calibri"/>
              </a:rPr>
              <a:t>+1.28</a:t>
            </a:r>
          </a:p>
        </p:txBody>
      </p:sp>
      <p:sp>
        <p:nvSpPr>
          <p:cNvPr id="12" name="TextBox 11"/>
          <p:cNvSpPr txBox="1"/>
          <p:nvPr/>
        </p:nvSpPr>
        <p:spPr>
          <a:xfrm>
            <a:off x="3456432" y="2194560"/>
            <a:ext cx="2514600" cy="960120"/>
          </a:xfrm>
          <a:prstGeom prst="rect">
            <a:avLst/>
          </a:prstGeom>
          <a:noFill/>
        </p:spPr>
        <p:txBody>
          <a:bodyPr wrap="square"/>
          <a:lstStyle/>
          <a:p>
            <a:pPr algn="l"/>
            <a:r>
              <a:rPr sz="1500" b="1">
                <a:solidFill>
                  <a:srgbClr val="122B45"/>
                </a:solidFill>
                <a:latin typeface="Calibri"/>
              </a:rPr>
              <a:t>average reward, from −1.0 at the start</a:t>
            </a:r>
          </a:p>
        </p:txBody>
      </p:sp>
      <p:sp>
        <p:nvSpPr>
          <p:cNvPr id="13" name="TextBox 12"/>
          <p:cNvSpPr txBox="1"/>
          <p:nvPr/>
        </p:nvSpPr>
        <p:spPr>
          <a:xfrm>
            <a:off x="3456432" y="3246120"/>
            <a:ext cx="2514600" cy="640080"/>
          </a:xfrm>
          <a:prstGeom prst="rect">
            <a:avLst/>
          </a:prstGeom>
          <a:noFill/>
        </p:spPr>
        <p:txBody>
          <a:bodyPr wrap="square"/>
          <a:lstStyle/>
          <a:p>
            <a:pPr algn="l"/>
            <a:r>
              <a:rPr sz="1300" b="0">
                <a:solidFill>
                  <a:srgbClr val="5C6B7A"/>
                </a:solidFill>
                <a:latin typeface="Calibri"/>
              </a:rPr>
              <a:t>Graded checks: 86% positive, reward +1.90.</a:t>
            </a:r>
          </a:p>
        </p:txBody>
      </p:sp>
      <p:sp>
        <p:nvSpPr>
          <p:cNvPr id="14" name="Rounded Rectangle 13"/>
          <p:cNvSpPr/>
          <p:nvPr/>
        </p:nvSpPr>
        <p:spPr>
          <a:xfrm>
            <a:off x="6254496" y="1280160"/>
            <a:ext cx="2816352" cy="2788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417320"/>
            <a:ext cx="2514600" cy="685800"/>
          </a:xfrm>
          <a:prstGeom prst="rect">
            <a:avLst/>
          </a:prstGeom>
          <a:noFill/>
        </p:spPr>
        <p:txBody>
          <a:bodyPr wrap="square"/>
          <a:lstStyle/>
          <a:p>
            <a:pPr algn="l"/>
            <a:r>
              <a:rPr sz="3400" b="1">
                <a:solidFill>
                  <a:srgbClr val="C45C26"/>
                </a:solidFill>
                <a:latin typeface="Calibri"/>
              </a:rPr>
              <a:t>48</a:t>
            </a:r>
          </a:p>
        </p:txBody>
      </p:sp>
      <p:sp>
        <p:nvSpPr>
          <p:cNvPr id="16" name="TextBox 15"/>
          <p:cNvSpPr txBox="1"/>
          <p:nvPr/>
        </p:nvSpPr>
        <p:spPr>
          <a:xfrm>
            <a:off x="6400800" y="2194560"/>
            <a:ext cx="2514600" cy="960120"/>
          </a:xfrm>
          <a:prstGeom prst="rect">
            <a:avLst/>
          </a:prstGeom>
          <a:noFill/>
        </p:spPr>
        <p:txBody>
          <a:bodyPr wrap="square"/>
          <a:lstStyle/>
          <a:p>
            <a:pPr algn="l"/>
            <a:r>
              <a:rPr sz="1500" b="1">
                <a:solidFill>
                  <a:srgbClr val="122B45"/>
                </a:solidFill>
                <a:latin typeface="Calibri"/>
              </a:rPr>
              <a:t>comments published in those sittings</a:t>
            </a:r>
          </a:p>
        </p:txBody>
      </p:sp>
      <p:sp>
        <p:nvSpPr>
          <p:cNvPr id="17" name="TextBox 16"/>
          <p:cNvSpPr txBox="1"/>
          <p:nvPr/>
        </p:nvSpPr>
        <p:spPr>
          <a:xfrm>
            <a:off x="6400800" y="3246120"/>
            <a:ext cx="2514600" cy="640080"/>
          </a:xfrm>
          <a:prstGeom prst="rect">
            <a:avLst/>
          </a:prstGeom>
          <a:noFill/>
        </p:spPr>
        <p:txBody>
          <a:bodyPr wrap="square"/>
          <a:lstStyle/>
          <a:p>
            <a:pPr algn="l"/>
            <a:r>
              <a:rPr sz="1300" b="0">
                <a:solidFill>
                  <a:srgbClr val="5C6B7A"/>
                </a:solidFill>
                <a:latin typeface="Calibri"/>
              </a:rPr>
              <a:t>Most sittings leave one comment, then stop.</a:t>
            </a:r>
          </a:p>
        </p:txBody>
      </p:sp>
      <p:sp>
        <p:nvSpPr>
          <p:cNvPr id="18" name="Rounded Rectangle 17"/>
          <p:cNvSpPr/>
          <p:nvPr/>
        </p:nvSpPr>
        <p:spPr>
          <a:xfrm>
            <a:off x="9198864" y="1280160"/>
            <a:ext cx="2816352" cy="278892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45168" y="1417320"/>
            <a:ext cx="2514600" cy="685800"/>
          </a:xfrm>
          <a:prstGeom prst="rect">
            <a:avLst/>
          </a:prstGeom>
          <a:noFill/>
        </p:spPr>
        <p:txBody>
          <a:bodyPr wrap="square"/>
          <a:lstStyle/>
          <a:p>
            <a:pPr algn="l"/>
            <a:r>
              <a:rPr sz="3400" b="1">
                <a:solidFill>
                  <a:srgbClr val="C45C26"/>
                </a:solidFill>
                <a:latin typeface="Calibri"/>
              </a:rPr>
              <a:t>2</a:t>
            </a:r>
          </a:p>
        </p:txBody>
      </p:sp>
      <p:sp>
        <p:nvSpPr>
          <p:cNvPr id="20" name="TextBox 19"/>
          <p:cNvSpPr txBox="1"/>
          <p:nvPr/>
        </p:nvSpPr>
        <p:spPr>
          <a:xfrm>
            <a:off x="9345168" y="2194560"/>
            <a:ext cx="2514600" cy="960120"/>
          </a:xfrm>
          <a:prstGeom prst="rect">
            <a:avLst/>
          </a:prstGeom>
          <a:noFill/>
        </p:spPr>
        <p:txBody>
          <a:bodyPr wrap="square"/>
          <a:lstStyle/>
          <a:p>
            <a:pPr algn="l"/>
            <a:r>
              <a:rPr sz="1500" b="1">
                <a:solidFill>
                  <a:srgbClr val="122B45"/>
                </a:solidFill>
                <a:latin typeface="Calibri"/>
              </a:rPr>
              <a:t>banned accounts found and not used</a:t>
            </a:r>
          </a:p>
        </p:txBody>
      </p:sp>
      <p:sp>
        <p:nvSpPr>
          <p:cNvPr id="21" name="TextBox 20"/>
          <p:cNvSpPr txBox="1"/>
          <p:nvPr/>
        </p:nvSpPr>
        <p:spPr>
          <a:xfrm>
            <a:off x="9345168" y="3246120"/>
            <a:ext cx="2514600" cy="640080"/>
          </a:xfrm>
          <a:prstGeom prst="rect">
            <a:avLst/>
          </a:prstGeom>
          <a:noFill/>
        </p:spPr>
        <p:txBody>
          <a:bodyPr wrap="square"/>
          <a:lstStyle/>
          <a:p>
            <a:pPr algn="l"/>
            <a:r>
              <a:rPr sz="1300" b="0">
                <a:solidFill>
                  <a:srgbClr val="5C6B7A"/>
                </a:solidFill>
                <a:latin typeface="Calibri"/>
              </a:rPr>
              <a:t>26 Sep. Latest run, 1 Oct: 0 banned of 4.</a:t>
            </a:r>
          </a:p>
        </p:txBody>
      </p:sp>
      <p:sp>
        <p:nvSpPr>
          <p:cNvPr id="22" name="Rounded Rectangle 21"/>
          <p:cNvSpPr/>
          <p:nvPr/>
        </p:nvSpPr>
        <p:spPr>
          <a:xfrm>
            <a:off x="365760" y="4251960"/>
            <a:ext cx="11430000"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4407408"/>
            <a:ext cx="10972800" cy="292608"/>
          </a:xfrm>
          <a:prstGeom prst="rect">
            <a:avLst/>
          </a:prstGeom>
          <a:noFill/>
        </p:spPr>
        <p:txBody>
          <a:bodyPr wrap="square"/>
          <a:lstStyle/>
          <a:p>
            <a:pPr algn="l"/>
            <a:r>
              <a:rPr sz="1600" b="1">
                <a:solidFill>
                  <a:srgbClr val="122B45"/>
                </a:solidFill>
                <a:latin typeface="Calibri"/>
              </a:rPr>
              <a:t>How to read the 88%</a:t>
            </a:r>
          </a:p>
        </p:txBody>
      </p:sp>
      <p:sp>
        <p:nvSpPr>
          <p:cNvPr id="24" name="TextBox 23"/>
          <p:cNvSpPr txBox="1"/>
          <p:nvPr/>
        </p:nvSpPr>
        <p:spPr>
          <a:xfrm>
            <a:off x="594360" y="4800600"/>
            <a:ext cx="10972800" cy="1188720"/>
          </a:xfrm>
          <a:prstGeom prst="rect">
            <a:avLst/>
          </a:prstGeom>
          <a:noFill/>
        </p:spPr>
        <p:txBody>
          <a:bodyPr wrap="square"/>
          <a:lstStyle/>
          <a:p>
            <a:pPr algn="l"/>
            <a:r>
              <a:rPr sz="1500" b="0">
                <a:solidFill>
                  <a:srgbClr val="1C2430"/>
                </a:solidFill>
                <a:latin typeface="Calibri"/>
              </a:rPr>
              <a:t>That number is the learning model scoring its own decisions. It is not “88% of comments are still on Reddit.”
Posts are the weak part. 1 post confirmed live. 20 attempts failed. Most sittings skip the post because karma is under 10, which is the warm-up rule doing its job.</a:t>
            </a:r>
          </a:p>
        </p:txBody>
      </p:sp>
      <p:sp>
        <p:nvSpPr>
          <p:cNvPr id="25" name="TextBox 24"/>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6" name="TextBox 25"/>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What this does for Klarivo</a:t>
            </a:r>
          </a:p>
        </p:txBody>
      </p:sp>
      <p:sp>
        <p:nvSpPr>
          <p:cNvPr id="5" name="Rounded Rectangle 4"/>
          <p:cNvSpPr/>
          <p:nvPr/>
        </p:nvSpPr>
        <p:spPr>
          <a:xfrm>
            <a:off x="365760" y="914400"/>
            <a:ext cx="11430000" cy="93268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987552"/>
            <a:ext cx="10972800" cy="320040"/>
          </a:xfrm>
          <a:prstGeom prst="rect">
            <a:avLst/>
          </a:prstGeom>
          <a:noFill/>
        </p:spPr>
        <p:txBody>
          <a:bodyPr wrap="square"/>
          <a:lstStyle/>
          <a:p>
            <a:pPr algn="l"/>
            <a:r>
              <a:rPr sz="1600" b="1">
                <a:solidFill>
                  <a:srgbClr val="122B45"/>
                </a:solidFill>
                <a:latin typeface="Calibri"/>
              </a:rPr>
              <a:t>Publishers stop the manual posting</a:t>
            </a:r>
          </a:p>
        </p:txBody>
      </p:sp>
      <p:sp>
        <p:nvSpPr>
          <p:cNvPr id="7" name="TextBox 6"/>
          <p:cNvSpPr txBox="1"/>
          <p:nvPr/>
        </p:nvSpPr>
        <p:spPr>
          <a:xfrm>
            <a:off x="594360" y="1353312"/>
            <a:ext cx="10972800" cy="365760"/>
          </a:xfrm>
          <a:prstGeom prst="rect">
            <a:avLst/>
          </a:prstGeom>
          <a:noFill/>
        </p:spPr>
        <p:txBody>
          <a:bodyPr wrap="square"/>
          <a:lstStyle/>
          <a:p>
            <a:pPr algn="l"/>
            <a:r>
              <a:rPr sz="1400" b="0">
                <a:solidFill>
                  <a:srgbClr val="1C2430"/>
                </a:solidFill>
                <a:latin typeface="Calibri"/>
              </a:rPr>
              <a:t>They keep preparing the work in CRM. The tool does the Reddit activity.</a:t>
            </a:r>
          </a:p>
        </p:txBody>
      </p:sp>
      <p:sp>
        <p:nvSpPr>
          <p:cNvPr id="8" name="Rounded Rectangle 7"/>
          <p:cNvSpPr/>
          <p:nvPr/>
        </p:nvSpPr>
        <p:spPr>
          <a:xfrm>
            <a:off x="365760" y="1938528"/>
            <a:ext cx="11430000" cy="93268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11680"/>
            <a:ext cx="10972800" cy="320040"/>
          </a:xfrm>
          <a:prstGeom prst="rect">
            <a:avLst/>
          </a:prstGeom>
          <a:noFill/>
        </p:spPr>
        <p:txBody>
          <a:bodyPr wrap="square"/>
          <a:lstStyle/>
          <a:p>
            <a:pPr algn="l"/>
            <a:r>
              <a:rPr sz="1600" b="1">
                <a:solidFill>
                  <a:srgbClr val="122B45"/>
                </a:solidFill>
                <a:latin typeface="Calibri"/>
              </a:rPr>
              <a:t>More client work from the same team</a:t>
            </a:r>
          </a:p>
        </p:txBody>
      </p:sp>
      <p:sp>
        <p:nvSpPr>
          <p:cNvPr id="10" name="TextBox 9"/>
          <p:cNvSpPr txBox="1"/>
          <p:nvPr/>
        </p:nvSpPr>
        <p:spPr>
          <a:xfrm>
            <a:off x="594360" y="2377440"/>
            <a:ext cx="10972800" cy="365760"/>
          </a:xfrm>
          <a:prstGeom prst="rect">
            <a:avLst/>
          </a:prstGeom>
          <a:noFill/>
        </p:spPr>
        <p:txBody>
          <a:bodyPr wrap="square"/>
          <a:lstStyle/>
          <a:p>
            <a:pPr algn="l"/>
            <a:r>
              <a:rPr sz="1400" b="0">
                <a:solidFill>
                  <a:srgbClr val="1C2430"/>
                </a:solidFill>
                <a:latin typeface="Calibri"/>
              </a:rPr>
              <a:t>The queue, the caps, and the warm-up are in the tool, not in someone’s memory.</a:t>
            </a:r>
          </a:p>
        </p:txBody>
      </p:sp>
      <p:sp>
        <p:nvSpPr>
          <p:cNvPr id="11" name="Rounded Rectangle 10"/>
          <p:cNvSpPr/>
          <p:nvPr/>
        </p:nvSpPr>
        <p:spPr>
          <a:xfrm>
            <a:off x="365760" y="2962656"/>
            <a:ext cx="11430000" cy="93268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035808"/>
            <a:ext cx="10972800" cy="320040"/>
          </a:xfrm>
          <a:prstGeom prst="rect">
            <a:avLst/>
          </a:prstGeom>
          <a:noFill/>
        </p:spPr>
        <p:txBody>
          <a:bodyPr wrap="square"/>
          <a:lstStyle/>
          <a:p>
            <a:pPr algn="l"/>
            <a:r>
              <a:rPr sz="1600" b="1">
                <a:solidFill>
                  <a:srgbClr val="122B45"/>
                </a:solidFill>
                <a:latin typeface="Calibri"/>
              </a:rPr>
              <a:t>Accounts last longer</a:t>
            </a:r>
          </a:p>
        </p:txBody>
      </p:sp>
      <p:sp>
        <p:nvSpPr>
          <p:cNvPr id="13" name="TextBox 12"/>
          <p:cNvSpPr txBox="1"/>
          <p:nvPr/>
        </p:nvSpPr>
        <p:spPr>
          <a:xfrm>
            <a:off x="594360" y="3401568"/>
            <a:ext cx="10972800" cy="365760"/>
          </a:xfrm>
          <a:prstGeom prst="rect">
            <a:avLst/>
          </a:prstGeom>
          <a:noFill/>
        </p:spPr>
        <p:txBody>
          <a:bodyPr wrap="square"/>
          <a:lstStyle/>
          <a:p>
            <a:pPr algn="l"/>
            <a:r>
              <a:rPr sz="1400" b="0">
                <a:solidFill>
                  <a:srgbClr val="1C2430"/>
                </a:solidFill>
                <a:latin typeface="Calibri"/>
              </a:rPr>
              <a:t>A new account reads for a week. A banned account is stopped. The 48-hour cap is enforced.</a:t>
            </a:r>
          </a:p>
        </p:txBody>
      </p:sp>
      <p:sp>
        <p:nvSpPr>
          <p:cNvPr id="14" name="Rounded Rectangle 13"/>
          <p:cNvSpPr/>
          <p:nvPr/>
        </p:nvSpPr>
        <p:spPr>
          <a:xfrm>
            <a:off x="365760" y="3986784"/>
            <a:ext cx="11430000" cy="93268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059936"/>
            <a:ext cx="10972800" cy="320040"/>
          </a:xfrm>
          <a:prstGeom prst="rect">
            <a:avLst/>
          </a:prstGeom>
          <a:noFill/>
        </p:spPr>
        <p:txBody>
          <a:bodyPr wrap="square"/>
          <a:lstStyle/>
          <a:p>
            <a:pPr algn="l"/>
            <a:r>
              <a:rPr sz="1600" b="1">
                <a:solidFill>
                  <a:srgbClr val="122B45"/>
                </a:solidFill>
                <a:latin typeface="Calibri"/>
              </a:rPr>
              <a:t>Removals become a lesson</a:t>
            </a:r>
          </a:p>
        </p:txBody>
      </p:sp>
      <p:sp>
        <p:nvSpPr>
          <p:cNvPr id="16" name="TextBox 15"/>
          <p:cNvSpPr txBox="1"/>
          <p:nvPr/>
        </p:nvSpPr>
        <p:spPr>
          <a:xfrm>
            <a:off x="594360" y="4425696"/>
            <a:ext cx="10972800" cy="365760"/>
          </a:xfrm>
          <a:prstGeom prst="rect">
            <a:avLst/>
          </a:prstGeom>
          <a:noFill/>
        </p:spPr>
        <p:txBody>
          <a:bodyPr wrap="square"/>
          <a:lstStyle/>
          <a:p>
            <a:pPr algn="l"/>
            <a:r>
              <a:rPr sz="1400" b="0">
                <a:solidFill>
                  <a:srgbClr val="1C2430"/>
                </a:solidFill>
                <a:latin typeface="Calibri"/>
              </a:rPr>
              <a:t>The model drops tones and threads that Reddit has already taken down. A manual team repeats them.</a:t>
            </a:r>
          </a:p>
        </p:txBody>
      </p:sp>
      <p:sp>
        <p:nvSpPr>
          <p:cNvPr id="17" name="Rounded Rectangle 16"/>
          <p:cNvSpPr/>
          <p:nvPr/>
        </p:nvSpPr>
        <p:spPr>
          <a:xfrm>
            <a:off x="365760" y="5010912"/>
            <a:ext cx="11430000" cy="932688"/>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084064"/>
            <a:ext cx="10972800" cy="320040"/>
          </a:xfrm>
          <a:prstGeom prst="rect">
            <a:avLst/>
          </a:prstGeom>
          <a:noFill/>
        </p:spPr>
        <p:txBody>
          <a:bodyPr wrap="square"/>
          <a:lstStyle/>
          <a:p>
            <a:pPr algn="l"/>
            <a:r>
              <a:rPr sz="1600" b="1">
                <a:solidFill>
                  <a:srgbClr val="122B45"/>
                </a:solidFill>
                <a:latin typeface="Calibri"/>
              </a:rPr>
              <a:t>A number we can stand next to a client</a:t>
            </a:r>
          </a:p>
        </p:txBody>
      </p:sp>
      <p:sp>
        <p:nvSpPr>
          <p:cNvPr id="19" name="TextBox 18"/>
          <p:cNvSpPr txBox="1"/>
          <p:nvPr/>
        </p:nvSpPr>
        <p:spPr>
          <a:xfrm>
            <a:off x="594360" y="5449824"/>
            <a:ext cx="10972800" cy="365760"/>
          </a:xfrm>
          <a:prstGeom prst="rect">
            <a:avLst/>
          </a:prstGeom>
          <a:noFill/>
        </p:spPr>
        <p:txBody>
          <a:bodyPr wrap="square"/>
          <a:lstStyle/>
          <a:p>
            <a:pPr algn="l"/>
            <a:r>
              <a:rPr sz="1400" b="0">
                <a:solidFill>
                  <a:srgbClr val="1C2430"/>
                </a:solidFill>
                <a:latin typeface="Calibri"/>
              </a:rPr>
              <a:t>Assigned, published, live, removed, banned. After every run.</a:t>
            </a:r>
          </a:p>
        </p:txBody>
      </p:sp>
      <p:sp>
        <p:nvSpPr>
          <p:cNvPr id="20" name="TextBox 19"/>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1" name="TextBox 20"/>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What we add next</a:t>
            </a:r>
          </a:p>
        </p:txBody>
      </p:sp>
      <p:sp>
        <p:nvSpPr>
          <p:cNvPr id="5" name="TextBox 4"/>
          <p:cNvSpPr txBox="1"/>
          <p:nvPr/>
        </p:nvSpPr>
        <p:spPr>
          <a:xfrm>
            <a:off x="438912" y="841248"/>
            <a:ext cx="11155680" cy="320040"/>
          </a:xfrm>
          <a:prstGeom prst="rect">
            <a:avLst/>
          </a:prstGeom>
          <a:noFill/>
        </p:spPr>
        <p:txBody>
          <a:bodyPr wrap="square"/>
          <a:lstStyle/>
          <a:p>
            <a:pPr algn="l"/>
            <a:r>
              <a:rPr sz="1800" b="0">
                <a:solidFill>
                  <a:srgbClr val="1C2430"/>
                </a:solidFill>
                <a:latin typeface="Calibri"/>
              </a:rPr>
              <a:t>The runner exists. These are the pieces that make it a Klarivo system.</a:t>
            </a:r>
          </a:p>
        </p:txBody>
      </p:sp>
      <p:sp>
        <p:nvSpPr>
          <p:cNvPr id="6" name="Rounded Rectangle 5"/>
          <p:cNvSpPr/>
          <p:nvPr/>
        </p:nvSpPr>
        <p:spPr>
          <a:xfrm>
            <a:off x="365760" y="13258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90472"/>
            <a:ext cx="5303520" cy="365760"/>
          </a:xfrm>
          <a:prstGeom prst="rect">
            <a:avLst/>
          </a:prstGeom>
          <a:noFill/>
        </p:spPr>
        <p:txBody>
          <a:bodyPr wrap="square"/>
          <a:lstStyle/>
          <a:p>
            <a:pPr algn="l"/>
            <a:r>
              <a:rPr sz="1600" b="1">
                <a:solidFill>
                  <a:srgbClr val="122B45"/>
                </a:solidFill>
                <a:latin typeface="Calibri"/>
              </a:rPr>
              <a:t>CRM sends the task</a:t>
            </a:r>
          </a:p>
        </p:txBody>
      </p:sp>
      <p:sp>
        <p:nvSpPr>
          <p:cNvPr id="8" name="TextBox 7"/>
          <p:cNvSpPr txBox="1"/>
          <p:nvPr/>
        </p:nvSpPr>
        <p:spPr>
          <a:xfrm>
            <a:off x="566928" y="1965960"/>
            <a:ext cx="5303520" cy="640080"/>
          </a:xfrm>
          <a:prstGeom prst="rect">
            <a:avLst/>
          </a:prstGeom>
          <a:noFill/>
        </p:spPr>
        <p:txBody>
          <a:bodyPr wrap="square"/>
          <a:lstStyle/>
          <a:p>
            <a:pPr algn="l"/>
            <a:r>
              <a:rPr sz="1400" b="0">
                <a:solidFill>
                  <a:srgbClr val="1C2430"/>
                </a:solidFill>
                <a:latin typeface="Calibri"/>
              </a:rPr>
              <a:t>Comment, post, account, subreddit, and client come from CRM. No separate sheet.</a:t>
            </a:r>
          </a:p>
        </p:txBody>
      </p:sp>
      <p:sp>
        <p:nvSpPr>
          <p:cNvPr id="9" name="Rounded Rectangle 8"/>
          <p:cNvSpPr/>
          <p:nvPr/>
        </p:nvSpPr>
        <p:spPr>
          <a:xfrm>
            <a:off x="6263640" y="13258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1490472"/>
            <a:ext cx="5303520" cy="365760"/>
          </a:xfrm>
          <a:prstGeom prst="rect">
            <a:avLst/>
          </a:prstGeom>
          <a:noFill/>
        </p:spPr>
        <p:txBody>
          <a:bodyPr wrap="square"/>
          <a:lstStyle/>
          <a:p>
            <a:pPr algn="l"/>
            <a:r>
              <a:rPr sz="1600" b="1">
                <a:solidFill>
                  <a:srgbClr val="122B45"/>
                </a:solidFill>
                <a:latin typeface="Calibri"/>
              </a:rPr>
              <a:t>Status goes back</a:t>
            </a:r>
          </a:p>
        </p:txBody>
      </p:sp>
      <p:sp>
        <p:nvSpPr>
          <p:cNvPr id="11" name="TextBox 10"/>
          <p:cNvSpPr txBox="1"/>
          <p:nvPr/>
        </p:nvSpPr>
        <p:spPr>
          <a:xfrm>
            <a:off x="6464808" y="1965960"/>
            <a:ext cx="5303520" cy="640080"/>
          </a:xfrm>
          <a:prstGeom prst="rect">
            <a:avLst/>
          </a:prstGeom>
          <a:noFill/>
        </p:spPr>
        <p:txBody>
          <a:bodyPr wrap="square"/>
          <a:lstStyle/>
          <a:p>
            <a:pPr algn="l"/>
            <a:r>
              <a:rPr sz="1400" b="0">
                <a:solidFill>
                  <a:srgbClr val="1C2430"/>
                </a:solidFill>
                <a:latin typeface="Calibri"/>
              </a:rPr>
              <a:t>Live, filtered, removed, or account banned, on the same CRM task.</a:t>
            </a:r>
          </a:p>
        </p:txBody>
      </p:sp>
      <p:sp>
        <p:nvSpPr>
          <p:cNvPr id="12" name="Rounded Rectangle 11"/>
          <p:cNvSpPr/>
          <p:nvPr/>
        </p:nvSpPr>
        <p:spPr>
          <a:xfrm>
            <a:off x="365760" y="29260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090672"/>
            <a:ext cx="5303520" cy="365760"/>
          </a:xfrm>
          <a:prstGeom prst="rect">
            <a:avLst/>
          </a:prstGeom>
          <a:noFill/>
        </p:spPr>
        <p:txBody>
          <a:bodyPr wrap="square"/>
          <a:lstStyle/>
          <a:p>
            <a:pPr algn="l"/>
            <a:r>
              <a:rPr sz="1600" b="1">
                <a:solidFill>
                  <a:srgbClr val="122B45"/>
                </a:solidFill>
                <a:latin typeface="Calibri"/>
              </a:rPr>
              <a:t>Warm-up is a CRM status</a:t>
            </a:r>
          </a:p>
        </p:txBody>
      </p:sp>
      <p:sp>
        <p:nvSpPr>
          <p:cNvPr id="14" name="TextBox 13"/>
          <p:cNvSpPr txBox="1"/>
          <p:nvPr/>
        </p:nvSpPr>
        <p:spPr>
          <a:xfrm>
            <a:off x="566928" y="3566160"/>
            <a:ext cx="5303520" cy="640080"/>
          </a:xfrm>
          <a:prstGeom prst="rect">
            <a:avLst/>
          </a:prstGeom>
          <a:noFill/>
        </p:spPr>
        <p:txBody>
          <a:bodyPr wrap="square"/>
          <a:lstStyle/>
          <a:p>
            <a:pPr algn="l"/>
            <a:r>
              <a:rPr sz="1400" b="0">
                <a:solidFill>
                  <a:srgbClr val="1C2430"/>
                </a:solidFill>
                <a:latin typeface="Calibri"/>
              </a:rPr>
              <a:t>A new account cannot be given client work until the 7 days and the karma gate are passed.</a:t>
            </a:r>
          </a:p>
        </p:txBody>
      </p:sp>
      <p:sp>
        <p:nvSpPr>
          <p:cNvPr id="15" name="Rounded Rectangle 14"/>
          <p:cNvSpPr/>
          <p:nvPr/>
        </p:nvSpPr>
        <p:spPr>
          <a:xfrm>
            <a:off x="6263640" y="29260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3090672"/>
            <a:ext cx="5303520" cy="365760"/>
          </a:xfrm>
          <a:prstGeom prst="rect">
            <a:avLst/>
          </a:prstGeom>
          <a:noFill/>
        </p:spPr>
        <p:txBody>
          <a:bodyPr wrap="square"/>
          <a:lstStyle/>
          <a:p>
            <a:pPr algn="l"/>
            <a:r>
              <a:rPr sz="1600" b="1">
                <a:solidFill>
                  <a:srgbClr val="122B45"/>
                </a:solidFill>
                <a:latin typeface="Calibri"/>
              </a:rPr>
              <a:t>One report per client</a:t>
            </a:r>
          </a:p>
        </p:txBody>
      </p:sp>
      <p:sp>
        <p:nvSpPr>
          <p:cNvPr id="17" name="TextBox 16"/>
          <p:cNvSpPr txBox="1"/>
          <p:nvPr/>
        </p:nvSpPr>
        <p:spPr>
          <a:xfrm>
            <a:off x="6464808" y="3566160"/>
            <a:ext cx="5303520" cy="640080"/>
          </a:xfrm>
          <a:prstGeom prst="rect">
            <a:avLst/>
          </a:prstGeom>
          <a:noFill/>
        </p:spPr>
        <p:txBody>
          <a:bodyPr wrap="square"/>
          <a:lstStyle/>
          <a:p>
            <a:pPr algn="l"/>
            <a:r>
              <a:rPr sz="1400" b="0">
                <a:solidFill>
                  <a:srgbClr val="1C2430"/>
                </a:solidFill>
                <a:latin typeface="Calibri"/>
              </a:rPr>
              <a:t>Tasks assigned, comments live, posts live, accounts banned, for that pod.</a:t>
            </a:r>
          </a:p>
        </p:txBody>
      </p:sp>
      <p:sp>
        <p:nvSpPr>
          <p:cNvPr id="18" name="Rounded Rectangle 17"/>
          <p:cNvSpPr/>
          <p:nvPr/>
        </p:nvSpPr>
        <p:spPr>
          <a:xfrm>
            <a:off x="365760" y="45262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690872"/>
            <a:ext cx="5303520" cy="365760"/>
          </a:xfrm>
          <a:prstGeom prst="rect">
            <a:avLst/>
          </a:prstGeom>
          <a:noFill/>
        </p:spPr>
        <p:txBody>
          <a:bodyPr wrap="square"/>
          <a:lstStyle/>
          <a:p>
            <a:pPr algn="l"/>
            <a:r>
              <a:rPr sz="1600" b="1">
                <a:solidFill>
                  <a:srgbClr val="122B45"/>
                </a:solidFill>
                <a:latin typeface="Calibri"/>
              </a:rPr>
              <a:t>Tie a live thread to Monitor</a:t>
            </a:r>
          </a:p>
        </p:txBody>
      </p:sp>
      <p:sp>
        <p:nvSpPr>
          <p:cNvPr id="20" name="TextBox 19"/>
          <p:cNvSpPr txBox="1"/>
          <p:nvPr/>
        </p:nvSpPr>
        <p:spPr>
          <a:xfrm>
            <a:off x="566928" y="5166360"/>
            <a:ext cx="5303520" cy="640080"/>
          </a:xfrm>
          <a:prstGeom prst="rect">
            <a:avLst/>
          </a:prstGeom>
          <a:noFill/>
        </p:spPr>
        <p:txBody>
          <a:bodyPr wrap="square"/>
          <a:lstStyle/>
          <a:p>
            <a:pPr algn="l"/>
            <a:r>
              <a:rPr sz="1400" b="0">
                <a:solidFill>
                  <a:srgbClr val="1C2430"/>
                </a:solidFill>
                <a:latin typeface="Calibri"/>
              </a:rPr>
              <a:t>See whether the threads that stayed up show up later in that client’s citations.</a:t>
            </a:r>
          </a:p>
        </p:txBody>
      </p:sp>
      <p:sp>
        <p:nvSpPr>
          <p:cNvPr id="21" name="Rounded Rectangle 20"/>
          <p:cNvSpPr/>
          <p:nvPr/>
        </p:nvSpPr>
        <p:spPr>
          <a:xfrm>
            <a:off x="6263640" y="4526280"/>
            <a:ext cx="5715000" cy="146304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4808" y="4690872"/>
            <a:ext cx="5303520" cy="365760"/>
          </a:xfrm>
          <a:prstGeom prst="rect">
            <a:avLst/>
          </a:prstGeom>
          <a:noFill/>
        </p:spPr>
        <p:txBody>
          <a:bodyPr wrap="square"/>
          <a:lstStyle/>
          <a:p>
            <a:pPr algn="l"/>
            <a:r>
              <a:rPr sz="1600" b="1">
                <a:solidFill>
                  <a:srgbClr val="122B45"/>
                </a:solidFill>
                <a:latin typeface="Calibri"/>
              </a:rPr>
              <a:t>The other publisher work</a:t>
            </a:r>
          </a:p>
        </p:txBody>
      </p:sp>
      <p:sp>
        <p:nvSpPr>
          <p:cNvPr id="23" name="TextBox 22"/>
          <p:cNvSpPr txBox="1"/>
          <p:nvPr/>
        </p:nvSpPr>
        <p:spPr>
          <a:xfrm>
            <a:off x="6464808" y="5166360"/>
            <a:ext cx="5303520" cy="640080"/>
          </a:xfrm>
          <a:prstGeom prst="rect">
            <a:avLst/>
          </a:prstGeom>
          <a:noFill/>
        </p:spPr>
        <p:txBody>
          <a:bodyPr wrap="square"/>
          <a:lstStyle/>
          <a:p>
            <a:pPr algn="l"/>
            <a:r>
              <a:rPr sz="1400" b="0">
                <a:solidFill>
                  <a:srgbClr val="1C2430"/>
                </a:solidFill>
                <a:latin typeface="Calibri"/>
              </a:rPr>
              <a:t>Reviews, listicles, and publication mentions can use the same job: assign, place, record, learn.</a:t>
            </a:r>
          </a:p>
        </p:txBody>
      </p:sp>
      <p:sp>
        <p:nvSpPr>
          <p:cNvPr id="24" name="TextBox 23"/>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5" name="TextBox 24"/>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2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8912" y="237744"/>
            <a:ext cx="11155680" cy="457200"/>
          </a:xfrm>
          <a:prstGeom prst="rect">
            <a:avLst/>
          </a:prstGeom>
          <a:noFill/>
        </p:spPr>
        <p:txBody>
          <a:bodyPr wrap="square"/>
          <a:lstStyle/>
          <a:p>
            <a:pPr algn="l"/>
            <a:r>
              <a:rPr sz="3000" b="1">
                <a:solidFill>
                  <a:srgbClr val="122B45"/>
                </a:solidFill>
                <a:latin typeface="Calibri"/>
              </a:rPr>
              <a:t>The ask</a:t>
            </a:r>
          </a:p>
        </p:txBody>
      </p:sp>
      <p:sp>
        <p:nvSpPr>
          <p:cNvPr id="5" name="TextBox 4"/>
          <p:cNvSpPr txBox="1"/>
          <p:nvPr/>
        </p:nvSpPr>
        <p:spPr>
          <a:xfrm>
            <a:off x="438912" y="868680"/>
            <a:ext cx="10972800" cy="365760"/>
          </a:xfrm>
          <a:prstGeom prst="rect">
            <a:avLst/>
          </a:prstGeom>
          <a:noFill/>
        </p:spPr>
        <p:txBody>
          <a:bodyPr wrap="square"/>
          <a:lstStyle/>
          <a:p>
            <a:pPr algn="l"/>
            <a:r>
              <a:rPr sz="2000" b="0">
                <a:solidFill>
                  <a:srgbClr val="1C2430"/>
                </a:solidFill>
                <a:latin typeface="Calibri"/>
              </a:rPr>
              <a:t>Connect CRM on one pod. Let the warm-up and the model run for real.</a:t>
            </a:r>
          </a:p>
        </p:txBody>
      </p:sp>
      <p:sp>
        <p:nvSpPr>
          <p:cNvPr id="6" name="Rounded Rectangle 5"/>
          <p:cNvSpPr/>
          <p:nvPr/>
        </p:nvSpPr>
        <p:spPr>
          <a:xfrm>
            <a:off x="365760" y="1463040"/>
            <a:ext cx="2816352"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645920"/>
            <a:ext cx="2468880" cy="457200"/>
          </a:xfrm>
          <a:prstGeom prst="rect">
            <a:avLst/>
          </a:prstGeom>
          <a:noFill/>
        </p:spPr>
        <p:txBody>
          <a:bodyPr wrap="square"/>
          <a:lstStyle/>
          <a:p>
            <a:pPr algn="l"/>
            <a:r>
              <a:rPr sz="2200" b="1">
                <a:solidFill>
                  <a:srgbClr val="C45C26"/>
                </a:solidFill>
                <a:latin typeface="Calibri"/>
              </a:rPr>
              <a:t>30 days</a:t>
            </a:r>
          </a:p>
        </p:txBody>
      </p:sp>
      <p:sp>
        <p:nvSpPr>
          <p:cNvPr id="8" name="TextBox 7"/>
          <p:cNvSpPr txBox="1"/>
          <p:nvPr/>
        </p:nvSpPr>
        <p:spPr>
          <a:xfrm>
            <a:off x="530352" y="2240280"/>
            <a:ext cx="2468880" cy="914400"/>
          </a:xfrm>
          <a:prstGeom prst="rect">
            <a:avLst/>
          </a:prstGeom>
          <a:noFill/>
        </p:spPr>
        <p:txBody>
          <a:bodyPr wrap="square"/>
          <a:lstStyle/>
          <a:p>
            <a:pPr algn="l"/>
            <a:r>
              <a:rPr sz="1600" b="0">
                <a:solidFill>
                  <a:srgbClr val="1C2430"/>
                </a:solidFill>
                <a:latin typeface="Calibri"/>
              </a:rPr>
              <a:t>One client pod.</a:t>
            </a:r>
          </a:p>
        </p:txBody>
      </p:sp>
      <p:sp>
        <p:nvSpPr>
          <p:cNvPr id="9" name="Rounded Rectangle 8"/>
          <p:cNvSpPr/>
          <p:nvPr/>
        </p:nvSpPr>
        <p:spPr>
          <a:xfrm>
            <a:off x="3310128" y="1463040"/>
            <a:ext cx="2816352"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645920"/>
            <a:ext cx="2468880" cy="457200"/>
          </a:xfrm>
          <a:prstGeom prst="rect">
            <a:avLst/>
          </a:prstGeom>
          <a:noFill/>
        </p:spPr>
        <p:txBody>
          <a:bodyPr wrap="square"/>
          <a:lstStyle/>
          <a:p>
            <a:pPr algn="l"/>
            <a:r>
              <a:rPr sz="2200" b="1">
                <a:solidFill>
                  <a:srgbClr val="C45C26"/>
                </a:solidFill>
                <a:latin typeface="Calibri"/>
              </a:rPr>
              <a:t>CRM in</a:t>
            </a:r>
          </a:p>
        </p:txBody>
      </p:sp>
      <p:sp>
        <p:nvSpPr>
          <p:cNvPr id="11" name="TextBox 10"/>
          <p:cNvSpPr txBox="1"/>
          <p:nvPr/>
        </p:nvSpPr>
        <p:spPr>
          <a:xfrm>
            <a:off x="3474720" y="2240280"/>
            <a:ext cx="2468880" cy="914400"/>
          </a:xfrm>
          <a:prstGeom prst="rect">
            <a:avLst/>
          </a:prstGeom>
          <a:noFill/>
        </p:spPr>
        <p:txBody>
          <a:bodyPr wrap="square"/>
          <a:lstStyle/>
          <a:p>
            <a:pPr algn="l"/>
            <a:r>
              <a:rPr sz="1600" b="0">
                <a:solidFill>
                  <a:srgbClr val="1C2430"/>
                </a:solidFill>
                <a:latin typeface="Calibri"/>
              </a:rPr>
              <a:t>The comment and the post come from CRM.</a:t>
            </a:r>
          </a:p>
        </p:txBody>
      </p:sp>
      <p:sp>
        <p:nvSpPr>
          <p:cNvPr id="12" name="Rounded Rectangle 11"/>
          <p:cNvSpPr/>
          <p:nvPr/>
        </p:nvSpPr>
        <p:spPr>
          <a:xfrm>
            <a:off x="6254496" y="1463040"/>
            <a:ext cx="2816352"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645920"/>
            <a:ext cx="2468880" cy="457200"/>
          </a:xfrm>
          <a:prstGeom prst="rect">
            <a:avLst/>
          </a:prstGeom>
          <a:noFill/>
        </p:spPr>
        <p:txBody>
          <a:bodyPr wrap="square"/>
          <a:lstStyle/>
          <a:p>
            <a:pPr algn="l"/>
            <a:r>
              <a:rPr sz="2200" b="1">
                <a:solidFill>
                  <a:srgbClr val="C45C26"/>
                </a:solidFill>
                <a:latin typeface="Calibri"/>
              </a:rPr>
              <a:t>Rules on</a:t>
            </a:r>
          </a:p>
        </p:txBody>
      </p:sp>
      <p:sp>
        <p:nvSpPr>
          <p:cNvPr id="14" name="TextBox 13"/>
          <p:cNvSpPr txBox="1"/>
          <p:nvPr/>
        </p:nvSpPr>
        <p:spPr>
          <a:xfrm>
            <a:off x="6419088" y="2240280"/>
            <a:ext cx="2468880" cy="914400"/>
          </a:xfrm>
          <a:prstGeom prst="rect">
            <a:avLst/>
          </a:prstGeom>
          <a:noFill/>
        </p:spPr>
        <p:txBody>
          <a:bodyPr wrap="square"/>
          <a:lstStyle/>
          <a:p>
            <a:pPr algn="l"/>
            <a:r>
              <a:rPr sz="1600" b="0">
                <a:solidFill>
                  <a:srgbClr val="1C2430"/>
                </a:solidFill>
                <a:latin typeface="Calibri"/>
              </a:rPr>
              <a:t>7-day warm-up, karma 10 to post, 48-hour caps.</a:t>
            </a:r>
          </a:p>
        </p:txBody>
      </p:sp>
      <p:sp>
        <p:nvSpPr>
          <p:cNvPr id="15" name="Rounded Rectangle 14"/>
          <p:cNvSpPr/>
          <p:nvPr/>
        </p:nvSpPr>
        <p:spPr>
          <a:xfrm>
            <a:off x="9198864" y="1463040"/>
            <a:ext cx="2816352" cy="1965960"/>
          </a:xfrm>
          <a:prstGeom prst="roundRect">
            <a:avLst>
              <a:gd name="adj" fmla="val 8000"/>
            </a:avLst>
          </a:prstGeom>
          <a:solidFill>
            <a:srgbClr val="FFFFFF"/>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63456" y="1645920"/>
            <a:ext cx="2468880" cy="457200"/>
          </a:xfrm>
          <a:prstGeom prst="rect">
            <a:avLst/>
          </a:prstGeom>
          <a:noFill/>
        </p:spPr>
        <p:txBody>
          <a:bodyPr wrap="square"/>
          <a:lstStyle/>
          <a:p>
            <a:pPr algn="l"/>
            <a:r>
              <a:rPr sz="2200" b="1">
                <a:solidFill>
                  <a:srgbClr val="C45C26"/>
                </a:solidFill>
                <a:latin typeface="Calibri"/>
              </a:rPr>
              <a:t>Day 30</a:t>
            </a:r>
          </a:p>
        </p:txBody>
      </p:sp>
      <p:sp>
        <p:nvSpPr>
          <p:cNvPr id="17" name="TextBox 16"/>
          <p:cNvSpPr txBox="1"/>
          <p:nvPr/>
        </p:nvSpPr>
        <p:spPr>
          <a:xfrm>
            <a:off x="9363456" y="2240280"/>
            <a:ext cx="2468880" cy="914400"/>
          </a:xfrm>
          <a:prstGeom prst="rect">
            <a:avLst/>
          </a:prstGeom>
          <a:noFill/>
        </p:spPr>
        <p:txBody>
          <a:bodyPr wrap="square"/>
          <a:lstStyle/>
          <a:p>
            <a:pPr algn="l"/>
            <a:r>
              <a:rPr sz="1600" b="0">
                <a:solidFill>
                  <a:srgbClr val="1C2430"/>
                </a:solidFill>
                <a:latin typeface="Calibri"/>
              </a:rPr>
              <a:t>Ban rate, removal rate, and tasks that stayed live, against today.</a:t>
            </a:r>
          </a:p>
        </p:txBody>
      </p:sp>
      <p:sp>
        <p:nvSpPr>
          <p:cNvPr id="18" name="Rounded Rectangle 17"/>
          <p:cNvSpPr/>
          <p:nvPr/>
        </p:nvSpPr>
        <p:spPr>
          <a:xfrm>
            <a:off x="365760" y="3703320"/>
            <a:ext cx="11430000" cy="2423160"/>
          </a:xfrm>
          <a:prstGeom prst="roundRect">
            <a:avLst>
              <a:gd name="adj" fmla="val 8000"/>
            </a:avLst>
          </a:prstGeom>
          <a:solidFill>
            <a:srgbClr val="122B45"/>
          </a:solidFill>
          <a:ln>
            <a:solidFill>
              <a:srgbClr val="E2DC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77639"/>
            <a:ext cx="10789920" cy="365760"/>
          </a:xfrm>
          <a:prstGeom prst="rect">
            <a:avLst/>
          </a:prstGeom>
          <a:noFill/>
        </p:spPr>
        <p:txBody>
          <a:bodyPr wrap="square"/>
          <a:lstStyle/>
          <a:p>
            <a:pPr algn="l"/>
            <a:r>
              <a:rPr sz="1600" b="0">
                <a:solidFill>
                  <a:srgbClr val="E8B896"/>
                </a:solidFill>
                <a:latin typeface="Calibri"/>
              </a:rPr>
              <a:t>If those three move the right way</a:t>
            </a:r>
          </a:p>
        </p:txBody>
      </p:sp>
      <p:sp>
        <p:nvSpPr>
          <p:cNvPr id="20" name="TextBox 19"/>
          <p:cNvSpPr txBox="1"/>
          <p:nvPr/>
        </p:nvSpPr>
        <p:spPr>
          <a:xfrm>
            <a:off x="685800" y="4480560"/>
            <a:ext cx="10789920" cy="1188720"/>
          </a:xfrm>
          <a:prstGeom prst="rect">
            <a:avLst/>
          </a:prstGeom>
          <a:noFill/>
        </p:spPr>
        <p:txBody>
          <a:bodyPr wrap="square"/>
          <a:lstStyle/>
          <a:p>
            <a:pPr algn="l"/>
            <a:r>
              <a:rPr sz="2600" b="1">
                <a:solidFill>
                  <a:srgbClr val="FFFFFF"/>
                </a:solidFill>
                <a:latin typeface="Calibri"/>
              </a:rPr>
              <a:t>This becomes how Reddit tasks from CRM get published,
and the model keeps learning from every task after that.</a:t>
            </a:r>
          </a:p>
        </p:txBody>
      </p:sp>
      <p:sp>
        <p:nvSpPr>
          <p:cNvPr id="21" name="TextBox 20"/>
          <p:cNvSpPr txBox="1"/>
          <p:nvPr/>
        </p:nvSpPr>
        <p:spPr>
          <a:xfrm>
            <a:off x="411480" y="6510528"/>
            <a:ext cx="7315200" cy="256032"/>
          </a:xfrm>
          <a:prstGeom prst="rect">
            <a:avLst/>
          </a:prstGeom>
          <a:noFill/>
        </p:spPr>
        <p:txBody>
          <a:bodyPr wrap="square"/>
          <a:lstStyle/>
          <a:p>
            <a:pPr algn="l"/>
            <a:r>
              <a:rPr sz="1200" b="0">
                <a:solidFill>
                  <a:srgbClr val="5C6B7A"/>
                </a:solidFill>
                <a:latin typeface="Calibri"/>
              </a:rPr>
              <a:t>Klarivo  ·  Internal</a:t>
            </a:r>
          </a:p>
        </p:txBody>
      </p:sp>
      <p:sp>
        <p:nvSpPr>
          <p:cNvPr id="22" name="TextBox 21"/>
          <p:cNvSpPr txBox="1"/>
          <p:nvPr/>
        </p:nvSpPr>
        <p:spPr>
          <a:xfrm>
            <a:off x="10241280" y="6510528"/>
            <a:ext cx="1554480" cy="256032"/>
          </a:xfrm>
          <a:prstGeom prst="rect">
            <a:avLst/>
          </a:prstGeom>
          <a:noFill/>
        </p:spPr>
        <p:txBody>
          <a:bodyPr wrap="square"/>
          <a:lstStyle/>
          <a:p>
            <a:pPr algn="r"/>
            <a:r>
              <a:rPr sz="1200" b="0">
                <a:solidFill>
                  <a:srgbClr val="5C6B7A"/>
                </a:solidFill>
                <a:latin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Reddit automation for CRM</dc:title>
  <dc:subject/>
  <dc:creator>Klarivo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