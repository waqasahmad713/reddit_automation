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6.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sldImg"/>
          </p:nvPr>
        </p:nvSpPr>
        <p:spPr>
          <a:xfrm>
            <a:off x="0" y="764280"/>
            <a:ext cx="0" cy="0"/>
          </a:xfrm>
          <a:prstGeom prst="rect">
            <a:avLst/>
          </a:prstGeom>
          <a:noFill/>
          <a:ln w="0">
            <a:noFill/>
          </a:ln>
        </p:spPr>
        <p:txBody>
          <a:bodyPr lIns="0" tIns="0" rIns="0" bIns="0" anchor="ctr">
            <a:noAutofit/>
          </a:bodyPr>
          <a:p>
            <a:pPr algn="ctr" defTabSz="457200"/>
            <a:r>
              <a:rPr lang="en-US" sz="4400" b="0" u="none" strike="noStrike">
                <a:solidFill>
                  <a:schemeClr val="dk1"/>
                </a:solidFill>
                <a:effectLst/>
                <a:uFillTx/>
                <a:latin typeface="Calibri"/>
              </a:rPr>
              <a:t>Click to move the slide</a:t>
            </a:r>
            <a:endParaRPr lang="en-US" sz="4400" b="0" u="none" strike="noStrike">
              <a:solidFill>
                <a:schemeClr val="dk1"/>
              </a:solidFill>
              <a:effectLst/>
              <a:uFillTx/>
              <a:latin typeface="Calibri"/>
            </a:endParaRPr>
          </a:p>
        </p:txBody>
      </p:sp>
      <p:sp>
        <p:nvSpPr>
          <p:cNvPr id="6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3"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64"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65"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6"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75A32204-C62F-49B0-8FEC-50121497C8A5}"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sldImg"/>
          </p:nvPr>
        </p:nvSpPr>
        <p:spPr>
          <a:xfrm>
            <a:off x="1143000" y="685800"/>
            <a:ext cx="4571640" cy="3428640"/>
          </a:xfrm>
          <a:prstGeom prst="rect">
            <a:avLst/>
          </a:prstGeom>
          <a:ln w="0">
            <a:noFill/>
          </a:ln>
        </p:spPr>
      </p:sp>
      <p:sp>
        <p:nvSpPr>
          <p:cNvPr id="33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Open with one sentence: a publisher takes the task from CRM and posts it by hand, and a lot of that work dies. This tool does the posting. New accounts warm up before they post. A learning model remembers what Reddit removed. Do not explain why Reddit matters.</a:t>
            </a:r>
            <a:endParaRPr lang="en-US" sz="2000" b="0" u="none" strike="noStrike">
              <a:solidFill>
                <a:srgbClr val="000000"/>
              </a:solidFill>
              <a:effectLst/>
              <a:uFillTx/>
              <a:latin typeface="Arial"/>
            </a:endParaRPr>
          </a:p>
        </p:txBody>
      </p:sp>
      <p:sp>
        <p:nvSpPr>
          <p:cNvPr id="338" name="PlaceHolder 3"/>
          <p:cNvSpPr>
            <a:spLocks noGrp="1"/>
          </p:cNvSpPr>
          <p:nvPr>
            <p:ph type="sldNum" idx="3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EF95103-CCAD-4547-9EDA-B635186B917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9" name="PlaceHolder 1"/>
          <p:cNvSpPr>
            <a:spLocks noGrp="1"/>
          </p:cNvSpPr>
          <p:nvPr>
            <p:ph type="sldImg"/>
          </p:nvPr>
        </p:nvSpPr>
        <p:spPr>
          <a:xfrm>
            <a:off x="1143000" y="685800"/>
            <a:ext cx="4571640" cy="3428640"/>
          </a:xfrm>
          <a:prstGeom prst="rect">
            <a:avLst/>
          </a:prstGeom>
          <a:ln w="0">
            <a:noFill/>
          </a:ln>
        </p:spPr>
      </p:sp>
      <p:sp>
        <p:nvSpPr>
          <p:cNvPr id="34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Say: we assign the work in CRM. The publisher posts it. Then the account is banned, or Reddit takes the comment down, or the post never stays up.</a:t>
            </a:r>
            <a:endParaRPr lang="en-US" sz="2000" b="0" u="none" strike="noStrike">
              <a:solidFill>
                <a:srgbClr val="000000"/>
              </a:solidFill>
              <a:effectLst/>
              <a:uFillTx/>
              <a:latin typeface="Arial"/>
            </a:endParaRPr>
          </a:p>
        </p:txBody>
      </p:sp>
      <p:sp>
        <p:nvSpPr>
          <p:cNvPr id="341" name="PlaceHolder 3"/>
          <p:cNvSpPr>
            <a:spLocks noGrp="1"/>
          </p:cNvSpPr>
          <p:nvPr>
            <p:ph type="sldNum" idx="3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BCC0EA5-010D-448D-8D97-2B09C145771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sldImg"/>
          </p:nvPr>
        </p:nvSpPr>
        <p:spPr>
          <a:xfrm>
            <a:off x="1143000" y="685800"/>
            <a:ext cx="4571640" cy="3428640"/>
          </a:xfrm>
          <a:prstGeom prst="rect">
            <a:avLst/>
          </a:prstGeom>
          <a:ln w="0">
            <a:noFill/>
          </a:ln>
        </p:spPr>
      </p:sp>
      <p:sp>
        <p:nvSpPr>
          <p:cNvPr id="343"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A publisher cannot read every community’s rules, judge the thread, and also know which wording Reddit has been removing. The same mistakes repeat, and the ban rate stays high.</a:t>
            </a:r>
            <a:endParaRPr lang="en-US" sz="2000" b="0" u="none" strike="noStrike">
              <a:solidFill>
                <a:srgbClr val="000000"/>
              </a:solidFill>
              <a:effectLst/>
              <a:uFillTx/>
              <a:latin typeface="Arial"/>
            </a:endParaRPr>
          </a:p>
        </p:txBody>
      </p:sp>
      <p:sp>
        <p:nvSpPr>
          <p:cNvPr id="344" name="PlaceHolder 3"/>
          <p:cNvSpPr>
            <a:spLocks noGrp="1"/>
          </p:cNvSpPr>
          <p:nvPr>
            <p:ph type="sldNum" idx="39"/>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C226699-DFDB-4B94-80B2-70730D356CD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5" name="PlaceHolder 1"/>
          <p:cNvSpPr>
            <a:spLocks noGrp="1"/>
          </p:cNvSpPr>
          <p:nvPr>
            <p:ph type="sldImg"/>
          </p:nvPr>
        </p:nvSpPr>
        <p:spPr>
          <a:xfrm>
            <a:off x="1143000" y="685800"/>
            <a:ext cx="4571640" cy="3428640"/>
          </a:xfrm>
          <a:prstGeom prst="rect">
            <a:avLst/>
          </a:prstGeom>
          <a:ln w="0">
            <a:noFill/>
          </a:ln>
        </p:spPr>
      </p:sp>
      <p:sp>
        <p:nvSpPr>
          <p:cNvPr id="346"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copy still comes from us. The tool takes the account, the community, the timing, and the check afterwards. Warm-up and learning are the two pieces a publisher cannot do consistently by hand.</a:t>
            </a:r>
            <a:endParaRPr lang="en-US" sz="2000" b="0" u="none" strike="noStrike">
              <a:solidFill>
                <a:srgbClr val="000000"/>
              </a:solidFill>
              <a:effectLst/>
              <a:uFillTx/>
              <a:latin typeface="Arial"/>
            </a:endParaRPr>
          </a:p>
        </p:txBody>
      </p:sp>
      <p:sp>
        <p:nvSpPr>
          <p:cNvPr id="347" name="PlaceHolder 3"/>
          <p:cNvSpPr>
            <a:spLocks noGrp="1"/>
          </p:cNvSpPr>
          <p:nvPr>
            <p:ph type="sldNum" idx="40"/>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6DB8E32-985A-4A35-861A-D5259E111CA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8" name="PlaceHolder 1"/>
          <p:cNvSpPr>
            <a:spLocks noGrp="1"/>
          </p:cNvSpPr>
          <p:nvPr>
            <p:ph type="sldImg"/>
          </p:nvPr>
        </p:nvSpPr>
        <p:spPr>
          <a:xfrm>
            <a:off x="1143000" y="685800"/>
            <a:ext cx="4571640" cy="3428640"/>
          </a:xfrm>
          <a:prstGeom prst="rect">
            <a:avLst/>
          </a:prstGeom>
          <a:ln w="0">
            <a:noFill/>
          </a:ln>
        </p:spPr>
      </p:sp>
      <p:sp>
        <p:nvSpPr>
          <p:cNvPr id="349"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Say the three stages left to right. First 7 days, browse only. After that, comments, two per 48 hours, and that is how karma grows. A post waits until karma is 10, then one per 48 hours. One new community join per sitting. If age cannot be read, a low-karma account stays in browse-only until it can. This is the direct answer to new accounts posting too soon and getting banned.</a:t>
            </a:r>
            <a:endParaRPr lang="en-US" sz="2000" b="0" u="none" strike="noStrike">
              <a:solidFill>
                <a:srgbClr val="000000"/>
              </a:solidFill>
              <a:effectLst/>
              <a:uFillTx/>
              <a:latin typeface="Arial"/>
            </a:endParaRPr>
          </a:p>
        </p:txBody>
      </p:sp>
      <p:sp>
        <p:nvSpPr>
          <p:cNvPr id="350" name="PlaceHolder 3"/>
          <p:cNvSpPr>
            <a:spLocks noGrp="1"/>
          </p:cNvSpPr>
          <p:nvPr>
            <p:ph type="sldNum" idx="41"/>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FFA0FAF-18D1-4357-A128-2DCB27D48C4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1" name="PlaceHolder 1"/>
          <p:cNvSpPr>
            <a:spLocks noGrp="1"/>
          </p:cNvSpPr>
          <p:nvPr>
            <p:ph type="sldImg"/>
          </p:nvPr>
        </p:nvSpPr>
        <p:spPr>
          <a:xfrm>
            <a:off x="1143000" y="685800"/>
            <a:ext cx="4571640" cy="3428640"/>
          </a:xfrm>
          <a:prstGeom prst="rect">
            <a:avLst/>
          </a:prstGeom>
          <a:ln w="0">
            <a:noFill/>
          </a:ln>
        </p:spPr>
      </p:sp>
      <p:sp>
        <p:nvSpPr>
          <p:cNvPr id="352"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Walk the rows. A sitting is 5 to 10 minutes and mostly reading. A comment counts only when it is visible on the thread. If we supply the text, it publishes that text. If the comment text is empty, a model drafts it from the thread and the community rules.</a:t>
            </a:r>
            <a:endParaRPr lang="en-US" sz="2000" b="0" u="none" strike="noStrike">
              <a:solidFill>
                <a:srgbClr val="000000"/>
              </a:solidFill>
              <a:effectLst/>
              <a:uFillTx/>
              <a:latin typeface="Arial"/>
            </a:endParaRPr>
          </a:p>
        </p:txBody>
      </p:sp>
      <p:sp>
        <p:nvSpPr>
          <p:cNvPr id="353" name="PlaceHolder 3"/>
          <p:cNvSpPr>
            <a:spLocks noGrp="1"/>
          </p:cNvSpPr>
          <p:nvPr>
            <p:ph type="sldNum" idx="42"/>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089AD12-0FD1-4821-AE75-4FC64DFBFAC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4" name="PlaceHolder 1"/>
          <p:cNvSpPr>
            <a:spLocks noGrp="1"/>
          </p:cNvSpPr>
          <p:nvPr>
            <p:ph type="sldImg"/>
          </p:nvPr>
        </p:nvSpPr>
        <p:spPr>
          <a:xfrm>
            <a:off x="1143000" y="685800"/>
            <a:ext cx="4571640" cy="3428640"/>
          </a:xfrm>
          <a:prstGeom prst="rect">
            <a:avLst/>
          </a:prstGeom>
          <a:ln w="0">
            <a:noFill/>
          </a:ln>
        </p:spPr>
      </p:sp>
      <p:sp>
        <p:nvSpPr>
          <p:cNvPr id="355"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Left side is what it looks at. Right side is what it is allowed to decide. It does not pick which browser opens, and it does not decide how long to scroll. Say reinforcement learning once, then stay in plain words: it scores a choice, and the score comes from what Reddit did.</a:t>
            </a:r>
            <a:endParaRPr lang="en-US" sz="2000" b="0" u="none" strike="noStrike">
              <a:solidFill>
                <a:srgbClr val="000000"/>
              </a:solidFill>
              <a:effectLst/>
              <a:uFillTx/>
              <a:latin typeface="Arial"/>
            </a:endParaRPr>
          </a:p>
        </p:txBody>
      </p:sp>
      <p:sp>
        <p:nvSpPr>
          <p:cNvPr id="356" name="PlaceHolder 3"/>
          <p:cNvSpPr>
            <a:spLocks noGrp="1"/>
          </p:cNvSpPr>
          <p:nvPr>
            <p:ph type="sldNum" idx="43"/>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6F6D38C-B8C4-488B-9E2D-EEDEA3991651}"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7" name="PlaceHolder 1"/>
          <p:cNvSpPr>
            <a:spLocks noGrp="1"/>
          </p:cNvSpPr>
          <p:nvPr>
            <p:ph type="sldImg"/>
          </p:nvPr>
        </p:nvSpPr>
        <p:spPr>
          <a:xfrm>
            <a:off x="1143000" y="685800"/>
            <a:ext cx="4571640" cy="3428640"/>
          </a:xfrm>
          <a:prstGeom prst="rect">
            <a:avLst/>
          </a:prstGeom>
          <a:ln w="0">
            <a:noFill/>
          </a:ln>
        </p:spPr>
      </p:sp>
      <p:sp>
        <p:nvSpPr>
          <p:cNvPr id="358"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Three beats. It chooses. It scores what just happened. On a later run it checks whether Reddit kept the comment, and that later result is the real lesson. A comment younger than about 20 minutes is left for the next run. A small share of choices stays random, so it can still try a new tone. The model is saved after the run and picked up next time. From 27 August to 1 October that score went from 0 of 10 to 88 percent. The results slide has the numbers.</a:t>
            </a:r>
            <a:endParaRPr lang="en-US" sz="2000" b="0" u="none" strike="noStrike">
              <a:solidFill>
                <a:srgbClr val="000000"/>
              </a:solidFill>
              <a:effectLst/>
              <a:uFillTx/>
              <a:latin typeface="Arial"/>
            </a:endParaRPr>
          </a:p>
        </p:txBody>
      </p:sp>
      <p:sp>
        <p:nvSpPr>
          <p:cNvPr id="359" name="PlaceHolder 3"/>
          <p:cNvSpPr>
            <a:spLocks noGrp="1"/>
          </p:cNvSpPr>
          <p:nvPr>
            <p:ph type="sldNum" idx="44"/>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772D87F8-83CE-464E-AC83-56785845A2A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sldImg"/>
          </p:nvPr>
        </p:nvSpPr>
        <p:spPr>
          <a:xfrm>
            <a:off x="1143000" y="685800"/>
            <a:ext cx="4571640" cy="3428640"/>
          </a:xfrm>
          <a:prstGeom prst="rect">
            <a:avLst/>
          </a:prstGeom>
          <a:ln w="0">
            <a:noFill/>
          </a:ln>
        </p:spPr>
      </p:sp>
      <p:sp>
        <p:nvSpPr>
          <p:cNvPr id="361"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Slow down. 88% is the model’s score, not a promise that 88% of comments are still live. First log 27 August: 0 of 10, reward minus 1. Latest 1 October: 778 of 882, 88%, reward plus 1.28. Graded checks 974 of 1,138, 86%, reward plus 1.90. 48 comments across 100 sittings. Two already-banned accounts on 26 September were reported and not run. 1 October: 4 accounts, 0 banned. Posts: 1 live, 20 failed. Do not quote the old removed-comment table. Those rows are score 0, which the code treats as a blocked check, not a real removal.</a:t>
            </a:r>
            <a:endParaRPr lang="en-US" sz="2000" b="0" u="none" strike="noStrike">
              <a:solidFill>
                <a:srgbClr val="000000"/>
              </a:solidFill>
              <a:effectLst/>
              <a:uFillTx/>
              <a:latin typeface="Arial"/>
            </a:endParaRPr>
          </a:p>
        </p:txBody>
      </p:sp>
      <p:sp>
        <p:nvSpPr>
          <p:cNvPr id="362" name="PlaceHolder 3"/>
          <p:cNvSpPr>
            <a:spLocks noGrp="1"/>
          </p:cNvSpPr>
          <p:nvPr>
            <p:ph type="sldNum" idx="45"/>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F8F481B-66CF-4186-93A6-CB49DD75F54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3" name="PlaceHolder 1"/>
          <p:cNvSpPr>
            <a:spLocks noGrp="1"/>
          </p:cNvSpPr>
          <p:nvPr>
            <p:ph type="sldImg"/>
          </p:nvPr>
        </p:nvSpPr>
        <p:spPr>
          <a:xfrm>
            <a:off x="1143000" y="685800"/>
            <a:ext cx="4571640" cy="3428640"/>
          </a:xfrm>
          <a:prstGeom prst="rect">
            <a:avLst/>
          </a:prstGeom>
          <a:ln w="0">
            <a:noFill/>
          </a:ln>
        </p:spPr>
      </p:sp>
      <p:sp>
        <p:nvSpPr>
          <p:cNvPr id="364"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company slide. Do not promise zero bans. The gain is that the causes we can see are enforced, and the model gets better the longer Klarivo runs it. A spreadsheet process does not compound.</a:t>
            </a:r>
            <a:endParaRPr lang="en-US" sz="2000" b="0" u="none" strike="noStrike">
              <a:solidFill>
                <a:srgbClr val="000000"/>
              </a:solidFill>
              <a:effectLst/>
              <a:uFillTx/>
              <a:latin typeface="Arial"/>
            </a:endParaRPr>
          </a:p>
        </p:txBody>
      </p:sp>
      <p:sp>
        <p:nvSpPr>
          <p:cNvPr id="365" name="PlaceHolder 3"/>
          <p:cNvSpPr>
            <a:spLocks noGrp="1"/>
          </p:cNvSpPr>
          <p:nvPr>
            <p:ph type="sldNum" idx="46"/>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6831F8B-D7FD-4525-B96C-0BF0FE00656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6" name="PlaceHolder 1"/>
          <p:cNvSpPr>
            <a:spLocks noGrp="1"/>
          </p:cNvSpPr>
          <p:nvPr>
            <p:ph type="sldImg"/>
          </p:nvPr>
        </p:nvSpPr>
        <p:spPr>
          <a:xfrm>
            <a:off x="1143000" y="685800"/>
            <a:ext cx="4571640" cy="3428640"/>
          </a:xfrm>
          <a:prstGeom prst="rect">
            <a:avLst/>
          </a:prstGeom>
          <a:ln w="0">
            <a:noFill/>
          </a:ln>
        </p:spPr>
      </p:sp>
      <p:sp>
        <p:nvSpPr>
          <p:cNvPr id="367"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Six futures, in order. First the CRM connection, because that is what removes the handoff. Then status back, so the team sees the result where the task was created. Then warm-up as an account status, so coordinators stop assigning client work to an account that is still in its first week. Then a client report. Then Monitor, so a thread that stayed up can be checked against citations. Last, the same shape for reviews, listicles, and mentions. Reddit first, because the runner is already built.</a:t>
            </a:r>
            <a:endParaRPr lang="en-US" sz="2000" b="0" u="none" strike="noStrike">
              <a:solidFill>
                <a:srgbClr val="000000"/>
              </a:solidFill>
              <a:effectLst/>
              <a:uFillTx/>
              <a:latin typeface="Arial"/>
            </a:endParaRPr>
          </a:p>
        </p:txBody>
      </p:sp>
      <p:sp>
        <p:nvSpPr>
          <p:cNvPr id="368" name="PlaceHolder 3"/>
          <p:cNvSpPr>
            <a:spLocks noGrp="1"/>
          </p:cNvSpPr>
          <p:nvPr>
            <p:ph type="sldNum" idx="47"/>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2ACC7280-2ED1-4214-9977-22AA0D6DC50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9" name="PlaceHolder 1"/>
          <p:cNvSpPr>
            <a:spLocks noGrp="1"/>
          </p:cNvSpPr>
          <p:nvPr>
            <p:ph type="sldImg"/>
          </p:nvPr>
        </p:nvSpPr>
        <p:spPr>
          <a:xfrm>
            <a:off x="1143000" y="685800"/>
            <a:ext cx="4571640" cy="3428640"/>
          </a:xfrm>
          <a:prstGeom prst="rect">
            <a:avLst/>
          </a:prstGeom>
          <a:ln w="0">
            <a:noFill/>
          </a:ln>
        </p:spPr>
      </p:sp>
      <p:sp>
        <p:nvSpPr>
          <p:cNvPr id="370" name="PlaceHolder 2"/>
          <p:cNvSpPr>
            <a:spLocks noGrp="1"/>
          </p:cNvSpPr>
          <p:nvPr>
            <p:ph type="body"/>
          </p:nvPr>
        </p:nvSpPr>
        <p:spPr>
          <a:xfrm>
            <a:off x="685800" y="4343400"/>
            <a:ext cx="5486040" cy="411444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Close and stop. Approve 30 days, one pod, CRM as the source, warm-up and caps left on, and a readout of ban rate, removal rate, and tasks that stayed live. If those move, this is the default, and every later task trains the model. If he asks what you need: that approval, and permission to connect the queue to CRM.</a:t>
            </a:r>
            <a:endParaRPr lang="en-US" sz="2000" b="0" u="none" strike="noStrike">
              <a:solidFill>
                <a:srgbClr val="000000"/>
              </a:solidFill>
              <a:effectLst/>
              <a:uFillTx/>
              <a:latin typeface="Arial"/>
            </a:endParaRPr>
          </a:p>
        </p:txBody>
      </p:sp>
      <p:sp>
        <p:nvSpPr>
          <p:cNvPr id="371" name="PlaceHolder 3"/>
          <p:cNvSpPr>
            <a:spLocks noGrp="1"/>
          </p:cNvSpPr>
          <p:nvPr>
            <p:ph type="sldNum" idx="48"/>
          </p:nvPr>
        </p:nvSpPr>
        <p:spPr>
          <a:xfrm>
            <a:off x="3884760" y="8685360"/>
            <a:ext cx="2971440" cy="45684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F278683-1C1F-47CC-BC42-30E6962D8B1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14C3938B-B9E7-4BD7-9127-32089E208A6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A43C270-7F7B-4360-9192-D13B45571BD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tIns="45720" rIns="91440" bIns="45720" anchor="ctr" vert="eaVert">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81A9565-B603-40D5-BD98-8E448173DE0D}"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8FBDB61-17D5-4567-A1F7-BF33B8D3A7B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2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2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3ABB6EA1-BEB4-4748-A15E-AE853D85086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7"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8"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9"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0"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1"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DB8949D-8010-4A7E-BA02-C8981BD6A6E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3"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4"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5"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36"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37"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7FA0F0C-E737-4FAF-BB64-DDA83A32CA5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2"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3"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D4416FD-A6E8-4650-BDB3-E83A71B1B22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5"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6"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E3603A53-43C3-4138-A111-4746B09D59BD}"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7" name="PlaceHolder 4"/>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8" name="PlaceHolder 5"/>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4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0879AB45-5560-4D6F-BFE7-93A8D0F1233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6"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7"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9416F8D-7C09-44C8-B7B2-0E50C3DCC154}"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8"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69" name="Rectangle 3"/>
          <p:cNvSpPr/>
          <p:nvPr/>
        </p:nvSpPr>
        <p:spPr>
          <a:xfrm>
            <a:off x="0" y="0"/>
            <a:ext cx="1219140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0" name="TextBox 4"/>
          <p:cNvSpPr/>
          <p:nvPr/>
        </p:nvSpPr>
        <p:spPr>
          <a:xfrm>
            <a:off x="640080" y="1417320"/>
            <a:ext cx="1005804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1" u="none" strike="noStrike">
                <a:solidFill>
                  <a:srgbClr val="E8B896"/>
                </a:solidFill>
                <a:effectLst/>
                <a:uFillTx/>
                <a:latin typeface="Calibri"/>
              </a:rPr>
              <a:t>INTERNAL  ·  MANAGER AND CEO</a:t>
            </a:r>
            <a:endParaRPr lang="en-US" sz="1400" b="0" u="none" strike="noStrike">
              <a:solidFill>
                <a:srgbClr val="000000"/>
              </a:solidFill>
              <a:effectLst/>
              <a:uFillTx/>
              <a:latin typeface="Arial"/>
            </a:endParaRPr>
          </a:p>
        </p:txBody>
      </p:sp>
      <p:sp>
        <p:nvSpPr>
          <p:cNvPr id="71" name="TextBox 5"/>
          <p:cNvSpPr/>
          <p:nvPr/>
        </p:nvSpPr>
        <p:spPr>
          <a:xfrm>
            <a:off x="640080" y="1874520"/>
            <a:ext cx="10789560" cy="1554120"/>
          </a:xfrm>
          <a:prstGeom prst="rect">
            <a:avLst/>
          </a:prstGeom>
          <a:noFill/>
          <a:ln w="0">
            <a:noFill/>
          </a:ln>
        </p:spPr>
        <p:style>
          <a:lnRef idx="0"/>
          <a:fillRef idx="0"/>
          <a:effectRef idx="0"/>
          <a:fontRef idx="minor"/>
        </p:style>
        <p:txBody>
          <a:bodyPr lIns="90000" tIns="45000" rIns="90000" bIns="45000" anchor="t">
            <a:noAutofit/>
          </a:bodyPr>
          <a:p>
            <a:r>
              <a:rPr lang="en-US" sz="4400" b="1" u="none" strike="noStrike">
                <a:solidFill>
                  <a:srgbClr val="FFFFFF"/>
                </a:solidFill>
                <a:effectLst/>
                <a:uFillTx/>
                <a:latin typeface="Calibri"/>
              </a:rPr>
              <a:t>The tool that publishes</a:t>
            </a:r>
            <a:endParaRPr lang="en-US" sz="4400" b="0" u="none" strike="noStrike">
              <a:solidFill>
                <a:srgbClr val="000000"/>
              </a:solidFill>
              <a:effectLst/>
              <a:uFillTx/>
              <a:latin typeface="Arial"/>
            </a:endParaRPr>
          </a:p>
          <a:p>
            <a:pPr defTabSz="457200">
              <a:lnSpc>
                <a:spcPct val="100000"/>
              </a:lnSpc>
            </a:pPr>
            <a:r>
              <a:rPr lang="en-US" sz="4400" b="1" u="none" strike="noStrike">
                <a:solidFill>
                  <a:srgbClr val="FFFFFF"/>
                </a:solidFill>
                <a:effectLst/>
                <a:uFillTx/>
                <a:latin typeface="Calibri"/>
              </a:rPr>
              <a:t>Reddit tasks from CRM</a:t>
            </a:r>
            <a:endParaRPr lang="en-US" sz="4400" b="0" u="none" strike="noStrike">
              <a:solidFill>
                <a:srgbClr val="000000"/>
              </a:solidFill>
              <a:effectLst/>
              <a:uFillTx/>
              <a:latin typeface="Arial"/>
            </a:endParaRPr>
          </a:p>
        </p:txBody>
      </p:sp>
      <p:sp>
        <p:nvSpPr>
          <p:cNvPr id="72" name="TextBox 6"/>
          <p:cNvSpPr/>
          <p:nvPr/>
        </p:nvSpPr>
        <p:spPr>
          <a:xfrm>
            <a:off x="640080" y="4023360"/>
            <a:ext cx="10058040" cy="1279800"/>
          </a:xfrm>
          <a:prstGeom prst="rect">
            <a:avLst/>
          </a:prstGeom>
          <a:noFill/>
          <a:ln w="0">
            <a:noFill/>
          </a:ln>
        </p:spPr>
        <p:style>
          <a:lnRef idx="0"/>
          <a:fillRef idx="0"/>
          <a:effectRef idx="0"/>
          <a:fontRef idx="minor"/>
        </p:style>
        <p:txBody>
          <a:bodyPr lIns="90000" tIns="45000" rIns="90000" bIns="45000" anchor="t">
            <a:noAutofit/>
          </a:bodyPr>
          <a:p>
            <a:r>
              <a:rPr lang="en-US" sz="2000" b="0" u="none" strike="noStrike">
                <a:solidFill>
                  <a:srgbClr val="E6E1D8"/>
                </a:solidFill>
                <a:effectLst/>
                <a:uFillTx/>
                <a:latin typeface="Calibri"/>
              </a:rPr>
              <a:t>Publishers get the comment and the post in CRM and put them on Reddit by hand.</a:t>
            </a:r>
            <a:endParaRPr lang="en-US" sz="2000" b="0" u="none" strike="noStrike">
              <a:solidFill>
                <a:srgbClr val="000000"/>
              </a:solidFill>
              <a:effectLst/>
              <a:uFillTx/>
              <a:latin typeface="Arial"/>
            </a:endParaRPr>
          </a:p>
          <a:p>
            <a:r>
              <a:rPr lang="en-US" sz="2000" b="0" u="none" strike="noStrike">
                <a:solidFill>
                  <a:srgbClr val="E6E1D8"/>
                </a:solidFill>
                <a:effectLst/>
                <a:uFillTx/>
                <a:latin typeface="Calibri"/>
              </a:rPr>
              <a:t>Accounts get banned. Comments and posts get removed.</a:t>
            </a:r>
            <a:endParaRPr lang="en-US" sz="2000" b="0" u="none" strike="noStrike">
              <a:solidFill>
                <a:srgbClr val="000000"/>
              </a:solidFill>
              <a:effectLst/>
              <a:uFillTx/>
              <a:latin typeface="Arial"/>
            </a:endParaRPr>
          </a:p>
          <a:p>
            <a:pPr defTabSz="457200">
              <a:lnSpc>
                <a:spcPct val="100000"/>
              </a:lnSpc>
            </a:pPr>
            <a:r>
              <a:rPr lang="en-US" sz="2000" b="0" u="none" strike="noStrike">
                <a:solidFill>
                  <a:srgbClr val="E6E1D8"/>
                </a:solidFill>
                <a:effectLst/>
                <a:uFillTx/>
                <a:latin typeface="Calibri"/>
              </a:rPr>
              <a:t>This tool does that posting, warms accounts up first, and learns from what Reddit takes down.</a:t>
            </a:r>
            <a:endParaRPr lang="en-US" sz="2000" b="0" u="none" strike="noStrike">
              <a:solidFill>
                <a:srgbClr val="000000"/>
              </a:solidFill>
              <a:effectLst/>
              <a:uFillTx/>
              <a:latin typeface="Arial"/>
            </a:endParaRPr>
          </a:p>
        </p:txBody>
      </p:sp>
      <p:sp>
        <p:nvSpPr>
          <p:cNvPr id="73" name="TextBox 7"/>
          <p:cNvSpPr/>
          <p:nvPr/>
        </p:nvSpPr>
        <p:spPr>
          <a:xfrm>
            <a:off x="640080" y="6035040"/>
            <a:ext cx="7314840" cy="2739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FFFFFF"/>
                </a:solidFill>
                <a:effectLst/>
                <a:uFillTx/>
                <a:latin typeface="Calibri"/>
              </a:rPr>
              <a:t>Klarivo</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5"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6"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What is going wrong</a:t>
            </a:r>
            <a:endParaRPr lang="en-US" sz="3000" b="0" u="none" strike="noStrike">
              <a:solidFill>
                <a:srgbClr val="000000"/>
              </a:solidFill>
              <a:effectLst/>
              <a:uFillTx/>
              <a:latin typeface="Arial"/>
            </a:endParaRPr>
          </a:p>
        </p:txBody>
      </p:sp>
      <p:sp>
        <p:nvSpPr>
          <p:cNvPr id="77" name="TextBox 4"/>
          <p:cNvSpPr/>
          <p:nvPr/>
        </p:nvSpPr>
        <p:spPr>
          <a:xfrm>
            <a:off x="438840" y="914400"/>
            <a:ext cx="1097244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Publishers take the task from CRM and post it by hand. A lot of that work dies.</a:t>
            </a:r>
            <a:endParaRPr lang="en-US" sz="2000" b="0" u="none" strike="noStrike">
              <a:solidFill>
                <a:srgbClr val="000000"/>
              </a:solidFill>
              <a:effectLst/>
              <a:uFillTx/>
              <a:latin typeface="Arial"/>
            </a:endParaRPr>
          </a:p>
        </p:txBody>
      </p:sp>
      <p:sp>
        <p:nvSpPr>
          <p:cNvPr id="78" name="Rounded Rectangle 5"/>
          <p:cNvSpPr/>
          <p:nvPr/>
        </p:nvSpPr>
        <p:spPr>
          <a:xfrm>
            <a:off x="438840" y="1691640"/>
            <a:ext cx="5531760" cy="19656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9" name="TextBox 6"/>
          <p:cNvSpPr/>
          <p:nvPr/>
        </p:nvSpPr>
        <p:spPr>
          <a:xfrm>
            <a:off x="713160" y="2057400"/>
            <a:ext cx="4937400" cy="5025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122B45"/>
                </a:solidFill>
                <a:effectLst/>
                <a:uFillTx/>
                <a:latin typeface="Calibri"/>
              </a:rPr>
              <a:t>Accounts get banned</a:t>
            </a:r>
            <a:endParaRPr lang="en-US" sz="2200" b="0" u="none" strike="noStrike">
              <a:solidFill>
                <a:srgbClr val="000000"/>
              </a:solidFill>
              <a:effectLst/>
              <a:uFillTx/>
              <a:latin typeface="Arial"/>
            </a:endParaRPr>
          </a:p>
        </p:txBody>
      </p:sp>
      <p:sp>
        <p:nvSpPr>
          <p:cNvPr id="80" name="TextBox 7"/>
          <p:cNvSpPr/>
          <p:nvPr/>
        </p:nvSpPr>
        <p:spPr>
          <a:xfrm>
            <a:off x="713160" y="2743200"/>
            <a:ext cx="493740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We lose the account and every task that was on it.</a:t>
            </a:r>
            <a:endParaRPr lang="en-US" sz="1600" b="0" u="none" strike="noStrike">
              <a:solidFill>
                <a:srgbClr val="000000"/>
              </a:solidFill>
              <a:effectLst/>
              <a:uFillTx/>
              <a:latin typeface="Arial"/>
            </a:endParaRPr>
          </a:p>
        </p:txBody>
      </p:sp>
      <p:sp>
        <p:nvSpPr>
          <p:cNvPr id="81" name="Rounded Rectangle 8"/>
          <p:cNvSpPr/>
          <p:nvPr/>
        </p:nvSpPr>
        <p:spPr>
          <a:xfrm>
            <a:off x="6245280" y="1691640"/>
            <a:ext cx="5531760" cy="19656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2" name="TextBox 9"/>
          <p:cNvSpPr/>
          <p:nvPr/>
        </p:nvSpPr>
        <p:spPr>
          <a:xfrm>
            <a:off x="6519600" y="2057400"/>
            <a:ext cx="4937400" cy="5025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122B45"/>
                </a:solidFill>
                <a:effectLst/>
                <a:uFillTx/>
                <a:latin typeface="Calibri"/>
              </a:rPr>
              <a:t>Comments get removed</a:t>
            </a:r>
            <a:endParaRPr lang="en-US" sz="2200" b="0" u="none" strike="noStrike">
              <a:solidFill>
                <a:srgbClr val="000000"/>
              </a:solidFill>
              <a:effectLst/>
              <a:uFillTx/>
              <a:latin typeface="Arial"/>
            </a:endParaRPr>
          </a:p>
        </p:txBody>
      </p:sp>
      <p:sp>
        <p:nvSpPr>
          <p:cNvPr id="83" name="TextBox 10"/>
          <p:cNvSpPr/>
          <p:nvPr/>
        </p:nvSpPr>
        <p:spPr>
          <a:xfrm>
            <a:off x="6519600" y="2743200"/>
            <a:ext cx="493740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The reply never stays on the thread.</a:t>
            </a:r>
            <a:endParaRPr lang="en-US" sz="1600" b="0" u="none" strike="noStrike">
              <a:solidFill>
                <a:srgbClr val="000000"/>
              </a:solidFill>
              <a:effectLst/>
              <a:uFillTx/>
              <a:latin typeface="Arial"/>
            </a:endParaRPr>
          </a:p>
        </p:txBody>
      </p:sp>
      <p:sp>
        <p:nvSpPr>
          <p:cNvPr id="84" name="Rounded Rectangle 11"/>
          <p:cNvSpPr/>
          <p:nvPr/>
        </p:nvSpPr>
        <p:spPr>
          <a:xfrm>
            <a:off x="438840" y="3840480"/>
            <a:ext cx="5531760" cy="19656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5" name="TextBox 12"/>
          <p:cNvSpPr/>
          <p:nvPr/>
        </p:nvSpPr>
        <p:spPr>
          <a:xfrm>
            <a:off x="713160" y="4206240"/>
            <a:ext cx="4937400" cy="5025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122B45"/>
                </a:solidFill>
                <a:effectLst/>
                <a:uFillTx/>
                <a:latin typeface="Calibri"/>
              </a:rPr>
              <a:t>Posts get removed</a:t>
            </a:r>
            <a:endParaRPr lang="en-US" sz="2200" b="0" u="none" strike="noStrike">
              <a:solidFill>
                <a:srgbClr val="000000"/>
              </a:solidFill>
              <a:effectLst/>
              <a:uFillTx/>
              <a:latin typeface="Arial"/>
            </a:endParaRPr>
          </a:p>
        </p:txBody>
      </p:sp>
      <p:sp>
        <p:nvSpPr>
          <p:cNvPr id="86" name="TextBox 13"/>
          <p:cNvSpPr/>
          <p:nvPr/>
        </p:nvSpPr>
        <p:spPr>
          <a:xfrm>
            <a:off x="713160" y="4892040"/>
            <a:ext cx="493740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The post never counts for the client.</a:t>
            </a:r>
            <a:endParaRPr lang="en-US" sz="1600" b="0" u="none" strike="noStrike">
              <a:solidFill>
                <a:srgbClr val="000000"/>
              </a:solidFill>
              <a:effectLst/>
              <a:uFillTx/>
              <a:latin typeface="Arial"/>
            </a:endParaRPr>
          </a:p>
        </p:txBody>
      </p:sp>
      <p:sp>
        <p:nvSpPr>
          <p:cNvPr id="87" name="Rounded Rectangle 14"/>
          <p:cNvSpPr/>
          <p:nvPr/>
        </p:nvSpPr>
        <p:spPr>
          <a:xfrm>
            <a:off x="6245280" y="3840480"/>
            <a:ext cx="5531760" cy="19656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8" name="TextBox 15"/>
          <p:cNvSpPr/>
          <p:nvPr/>
        </p:nvSpPr>
        <p:spPr>
          <a:xfrm>
            <a:off x="6519600" y="4206240"/>
            <a:ext cx="4937400" cy="5025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122B45"/>
                </a:solidFill>
                <a:effectLst/>
                <a:uFillTx/>
                <a:latin typeface="Calibri"/>
              </a:rPr>
              <a:t>The task never counts</a:t>
            </a:r>
            <a:endParaRPr lang="en-US" sz="2200" b="0" u="none" strike="noStrike">
              <a:solidFill>
                <a:srgbClr val="000000"/>
              </a:solidFill>
              <a:effectLst/>
              <a:uFillTx/>
              <a:latin typeface="Arial"/>
            </a:endParaRPr>
          </a:p>
        </p:txBody>
      </p:sp>
      <p:sp>
        <p:nvSpPr>
          <p:cNvPr id="89" name="TextBox 16"/>
          <p:cNvSpPr/>
          <p:nvPr/>
        </p:nvSpPr>
        <p:spPr>
          <a:xfrm>
            <a:off x="6519600" y="4892040"/>
            <a:ext cx="493740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We paid for the account and the work. The client gets nothing from it.</a:t>
            </a:r>
            <a:endParaRPr lang="en-US" sz="1600" b="0" u="none" strike="noStrike">
              <a:solidFill>
                <a:srgbClr val="000000"/>
              </a:solidFill>
              <a:effectLst/>
              <a:uFillTx/>
              <a:latin typeface="Arial"/>
            </a:endParaRPr>
          </a:p>
        </p:txBody>
      </p:sp>
      <p:sp>
        <p:nvSpPr>
          <p:cNvPr id="90" name="TextBox 17"/>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91" name="TextBox 18"/>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2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3"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4"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Why that happens</a:t>
            </a:r>
            <a:endParaRPr lang="en-US" sz="3000" b="0" u="none" strike="noStrike">
              <a:solidFill>
                <a:srgbClr val="000000"/>
              </a:solidFill>
              <a:effectLst/>
              <a:uFillTx/>
              <a:latin typeface="Arial"/>
            </a:endParaRPr>
          </a:p>
        </p:txBody>
      </p:sp>
      <p:sp>
        <p:nvSpPr>
          <p:cNvPr id="95" name="TextBox 4"/>
          <p:cNvSpPr/>
          <p:nvPr/>
        </p:nvSpPr>
        <p:spPr>
          <a:xfrm>
            <a:off x="438840" y="914400"/>
            <a:ext cx="1097244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The publisher is guessing, and the account is often not ready.</a:t>
            </a:r>
            <a:endParaRPr lang="en-US" sz="2000" b="0" u="none" strike="noStrike">
              <a:solidFill>
                <a:srgbClr val="000000"/>
              </a:solidFill>
              <a:effectLst/>
              <a:uFillTx/>
              <a:latin typeface="Arial"/>
            </a:endParaRPr>
          </a:p>
        </p:txBody>
      </p:sp>
      <p:sp>
        <p:nvSpPr>
          <p:cNvPr id="96" name="Rounded Rectangle 5"/>
          <p:cNvSpPr/>
          <p:nvPr/>
        </p:nvSpPr>
        <p:spPr>
          <a:xfrm>
            <a:off x="438840" y="1508760"/>
            <a:ext cx="11246760" cy="6854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7" name="Oval 6"/>
          <p:cNvSpPr/>
          <p:nvPr/>
        </p:nvSpPr>
        <p:spPr>
          <a:xfrm>
            <a:off x="658440" y="1728360"/>
            <a:ext cx="237240" cy="237240"/>
          </a:xfrm>
          <a:prstGeom prst="ellipse">
            <a:avLst/>
          </a:prstGeom>
          <a:solidFill>
            <a:srgbClr val="C45C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98" name="TextBox 7"/>
          <p:cNvSpPr/>
          <p:nvPr/>
        </p:nvSpPr>
        <p:spPr>
          <a:xfrm>
            <a:off x="1097280" y="1654920"/>
            <a:ext cx="1005804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Wrong subreddit for that comment</a:t>
            </a:r>
            <a:endParaRPr lang="en-US" sz="2000" b="0" u="none" strike="noStrike">
              <a:solidFill>
                <a:srgbClr val="000000"/>
              </a:solidFill>
              <a:effectLst/>
              <a:uFillTx/>
              <a:latin typeface="Arial"/>
            </a:endParaRPr>
          </a:p>
        </p:txBody>
      </p:sp>
      <p:sp>
        <p:nvSpPr>
          <p:cNvPr id="99" name="Rounded Rectangle 8"/>
          <p:cNvSpPr/>
          <p:nvPr/>
        </p:nvSpPr>
        <p:spPr>
          <a:xfrm>
            <a:off x="438840" y="2286000"/>
            <a:ext cx="11246760" cy="6854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0" name="Oval 9"/>
          <p:cNvSpPr/>
          <p:nvPr/>
        </p:nvSpPr>
        <p:spPr>
          <a:xfrm>
            <a:off x="658440" y="2505600"/>
            <a:ext cx="237240" cy="237240"/>
          </a:xfrm>
          <a:prstGeom prst="ellipse">
            <a:avLst/>
          </a:prstGeom>
          <a:solidFill>
            <a:srgbClr val="C45C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1" name="TextBox 10"/>
          <p:cNvSpPr/>
          <p:nvPr/>
        </p:nvSpPr>
        <p:spPr>
          <a:xfrm>
            <a:off x="1097280" y="2432160"/>
            <a:ext cx="1005804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Wrong kind of thread</a:t>
            </a:r>
            <a:endParaRPr lang="en-US" sz="2000" b="0" u="none" strike="noStrike">
              <a:solidFill>
                <a:srgbClr val="000000"/>
              </a:solidFill>
              <a:effectLst/>
              <a:uFillTx/>
              <a:latin typeface="Arial"/>
            </a:endParaRPr>
          </a:p>
        </p:txBody>
      </p:sp>
      <p:sp>
        <p:nvSpPr>
          <p:cNvPr id="102" name="Rounded Rectangle 11"/>
          <p:cNvSpPr/>
          <p:nvPr/>
        </p:nvSpPr>
        <p:spPr>
          <a:xfrm>
            <a:off x="438840" y="3063240"/>
            <a:ext cx="11246760" cy="6854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3" name="Oval 12"/>
          <p:cNvSpPr/>
          <p:nvPr/>
        </p:nvSpPr>
        <p:spPr>
          <a:xfrm>
            <a:off x="658440" y="3282840"/>
            <a:ext cx="237240" cy="237240"/>
          </a:xfrm>
          <a:prstGeom prst="ellipse">
            <a:avLst/>
          </a:prstGeom>
          <a:solidFill>
            <a:srgbClr val="C45C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4" name="TextBox 13"/>
          <p:cNvSpPr/>
          <p:nvPr/>
        </p:nvSpPr>
        <p:spPr>
          <a:xfrm>
            <a:off x="1097280" y="3209400"/>
            <a:ext cx="1005804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Copy that does not fit the post or the community rules</a:t>
            </a:r>
            <a:endParaRPr lang="en-US" sz="2000" b="0" u="none" strike="noStrike">
              <a:solidFill>
                <a:srgbClr val="000000"/>
              </a:solidFill>
              <a:effectLst/>
              <a:uFillTx/>
              <a:latin typeface="Arial"/>
            </a:endParaRPr>
          </a:p>
        </p:txBody>
      </p:sp>
      <p:sp>
        <p:nvSpPr>
          <p:cNvPr id="105" name="Rounded Rectangle 14"/>
          <p:cNvSpPr/>
          <p:nvPr/>
        </p:nvSpPr>
        <p:spPr>
          <a:xfrm>
            <a:off x="438840" y="3840480"/>
            <a:ext cx="11246760" cy="6854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6" name="Oval 15"/>
          <p:cNvSpPr/>
          <p:nvPr/>
        </p:nvSpPr>
        <p:spPr>
          <a:xfrm>
            <a:off x="658440" y="4060080"/>
            <a:ext cx="237240" cy="237240"/>
          </a:xfrm>
          <a:prstGeom prst="ellipse">
            <a:avLst/>
          </a:prstGeom>
          <a:solidFill>
            <a:srgbClr val="C45C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7" name="TextBox 16"/>
          <p:cNvSpPr/>
          <p:nvPr/>
        </p:nvSpPr>
        <p:spPr>
          <a:xfrm>
            <a:off x="1097280" y="3986640"/>
            <a:ext cx="1005804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New account posting too soon</a:t>
            </a:r>
            <a:endParaRPr lang="en-US" sz="2000" b="0" u="none" strike="noStrike">
              <a:solidFill>
                <a:srgbClr val="000000"/>
              </a:solidFill>
              <a:effectLst/>
              <a:uFillTx/>
              <a:latin typeface="Arial"/>
            </a:endParaRPr>
          </a:p>
        </p:txBody>
      </p:sp>
      <p:sp>
        <p:nvSpPr>
          <p:cNvPr id="108" name="Rounded Rectangle 17"/>
          <p:cNvSpPr/>
          <p:nvPr/>
        </p:nvSpPr>
        <p:spPr>
          <a:xfrm>
            <a:off x="438840" y="4617720"/>
            <a:ext cx="11246760" cy="6854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09" name="Oval 18"/>
          <p:cNvSpPr/>
          <p:nvPr/>
        </p:nvSpPr>
        <p:spPr>
          <a:xfrm>
            <a:off x="658440" y="4837320"/>
            <a:ext cx="237240" cy="237240"/>
          </a:xfrm>
          <a:prstGeom prst="ellipse">
            <a:avLst/>
          </a:prstGeom>
          <a:solidFill>
            <a:srgbClr val="C45C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0" name="TextBox 19"/>
          <p:cNvSpPr/>
          <p:nvPr/>
        </p:nvSpPr>
        <p:spPr>
          <a:xfrm>
            <a:off x="1097280" y="4763880"/>
            <a:ext cx="1005804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Too many comments, too close together</a:t>
            </a:r>
            <a:endParaRPr lang="en-US" sz="2000" b="0" u="none" strike="noStrike">
              <a:solidFill>
                <a:srgbClr val="000000"/>
              </a:solidFill>
              <a:effectLst/>
              <a:uFillTx/>
              <a:latin typeface="Arial"/>
            </a:endParaRPr>
          </a:p>
        </p:txBody>
      </p:sp>
      <p:sp>
        <p:nvSpPr>
          <p:cNvPr id="111" name="Rounded Rectangle 20"/>
          <p:cNvSpPr/>
          <p:nvPr/>
        </p:nvSpPr>
        <p:spPr>
          <a:xfrm>
            <a:off x="438840" y="5394960"/>
            <a:ext cx="11246760" cy="6854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2" name="Oval 21"/>
          <p:cNvSpPr/>
          <p:nvPr/>
        </p:nvSpPr>
        <p:spPr>
          <a:xfrm>
            <a:off x="658440" y="5614560"/>
            <a:ext cx="237240" cy="237240"/>
          </a:xfrm>
          <a:prstGeom prst="ellipse">
            <a:avLst/>
          </a:prstGeom>
          <a:solidFill>
            <a:srgbClr val="C45C2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3" name="TextBox 22"/>
          <p:cNvSpPr/>
          <p:nvPr/>
        </p:nvSpPr>
        <p:spPr>
          <a:xfrm>
            <a:off x="1097280" y="5541120"/>
            <a:ext cx="1005804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Nobody checks whether Reddit kept it</a:t>
            </a:r>
            <a:endParaRPr lang="en-US" sz="2000" b="0" u="none" strike="noStrike">
              <a:solidFill>
                <a:srgbClr val="000000"/>
              </a:solidFill>
              <a:effectLst/>
              <a:uFillTx/>
              <a:latin typeface="Arial"/>
            </a:endParaRPr>
          </a:p>
        </p:txBody>
      </p:sp>
      <p:sp>
        <p:nvSpPr>
          <p:cNvPr id="114" name="TextBox 23"/>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115" name="TextBox 24"/>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3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7"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18"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What this tool changes</a:t>
            </a:r>
            <a:endParaRPr lang="en-US" sz="3000" b="0" u="none" strike="noStrike">
              <a:solidFill>
                <a:srgbClr val="000000"/>
              </a:solidFill>
              <a:effectLst/>
              <a:uFillTx/>
              <a:latin typeface="Arial"/>
            </a:endParaRPr>
          </a:p>
        </p:txBody>
      </p:sp>
      <p:sp>
        <p:nvSpPr>
          <p:cNvPr id="119" name="TextBox 4"/>
          <p:cNvSpPr/>
          <p:nvPr/>
        </p:nvSpPr>
        <p:spPr>
          <a:xfrm>
            <a:off x="438840" y="914400"/>
            <a:ext cx="1097244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CRM still holds the task. The tool publishes it, then learns from the result.</a:t>
            </a:r>
            <a:endParaRPr lang="en-US" sz="2000" b="0" u="none" strike="noStrike">
              <a:solidFill>
                <a:srgbClr val="000000"/>
              </a:solidFill>
              <a:effectLst/>
              <a:uFillTx/>
              <a:latin typeface="Arial"/>
            </a:endParaRPr>
          </a:p>
        </p:txBody>
      </p:sp>
      <p:sp>
        <p:nvSpPr>
          <p:cNvPr id="120" name="Rounded Rectangle 5"/>
          <p:cNvSpPr/>
          <p:nvPr/>
        </p:nvSpPr>
        <p:spPr>
          <a:xfrm>
            <a:off x="365760" y="1554480"/>
            <a:ext cx="2788560" cy="393156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1" name="TextBox 6"/>
          <p:cNvSpPr/>
          <p:nvPr/>
        </p:nvSpPr>
        <p:spPr>
          <a:xfrm>
            <a:off x="548640" y="1783080"/>
            <a:ext cx="242280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800" b="1" u="none" strike="noStrike">
                <a:solidFill>
                  <a:srgbClr val="C45C26"/>
                </a:solidFill>
                <a:effectLst/>
                <a:uFillTx/>
                <a:latin typeface="Calibri"/>
              </a:rPr>
              <a:t>1</a:t>
            </a:r>
            <a:endParaRPr lang="en-US" sz="2800" b="0" u="none" strike="noStrike">
              <a:solidFill>
                <a:srgbClr val="000000"/>
              </a:solidFill>
              <a:effectLst/>
              <a:uFillTx/>
              <a:latin typeface="Arial"/>
            </a:endParaRPr>
          </a:p>
        </p:txBody>
      </p:sp>
      <p:sp>
        <p:nvSpPr>
          <p:cNvPr id="122" name="TextBox 7"/>
          <p:cNvSpPr/>
          <p:nvPr/>
        </p:nvSpPr>
        <p:spPr>
          <a:xfrm>
            <a:off x="548640" y="2377440"/>
            <a:ext cx="242280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122B45"/>
                </a:solidFill>
                <a:effectLst/>
                <a:uFillTx/>
                <a:latin typeface="Calibri"/>
              </a:rPr>
              <a:t>CRM</a:t>
            </a:r>
            <a:endParaRPr lang="en-US" sz="2200" b="0" u="none" strike="noStrike">
              <a:solidFill>
                <a:srgbClr val="000000"/>
              </a:solidFill>
              <a:effectLst/>
              <a:uFillTx/>
              <a:latin typeface="Arial"/>
            </a:endParaRPr>
          </a:p>
        </p:txBody>
      </p:sp>
      <p:sp>
        <p:nvSpPr>
          <p:cNvPr id="123" name="TextBox 8"/>
          <p:cNvSpPr/>
          <p:nvPr/>
        </p:nvSpPr>
        <p:spPr>
          <a:xfrm>
            <a:off x="548640" y="3108960"/>
            <a:ext cx="2422800" cy="20113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The comment and the post are prepared here, the same as now.</a:t>
            </a:r>
            <a:endParaRPr lang="en-US" sz="1600" b="0" u="none" strike="noStrike">
              <a:solidFill>
                <a:srgbClr val="000000"/>
              </a:solidFill>
              <a:effectLst/>
              <a:uFillTx/>
              <a:latin typeface="Arial"/>
            </a:endParaRPr>
          </a:p>
        </p:txBody>
      </p:sp>
      <p:sp>
        <p:nvSpPr>
          <p:cNvPr id="124" name="Rounded Rectangle 9"/>
          <p:cNvSpPr/>
          <p:nvPr/>
        </p:nvSpPr>
        <p:spPr>
          <a:xfrm>
            <a:off x="3310200" y="1554480"/>
            <a:ext cx="2788560" cy="393156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5" name="TextBox 10"/>
          <p:cNvSpPr/>
          <p:nvPr/>
        </p:nvSpPr>
        <p:spPr>
          <a:xfrm>
            <a:off x="3493080" y="1783080"/>
            <a:ext cx="242280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800" b="1" u="none" strike="noStrike">
                <a:solidFill>
                  <a:srgbClr val="C45C26"/>
                </a:solidFill>
                <a:effectLst/>
                <a:uFillTx/>
                <a:latin typeface="Calibri"/>
              </a:rPr>
              <a:t>2</a:t>
            </a:r>
            <a:endParaRPr lang="en-US" sz="2800" b="0" u="none" strike="noStrike">
              <a:solidFill>
                <a:srgbClr val="000000"/>
              </a:solidFill>
              <a:effectLst/>
              <a:uFillTx/>
              <a:latin typeface="Arial"/>
            </a:endParaRPr>
          </a:p>
        </p:txBody>
      </p:sp>
      <p:sp>
        <p:nvSpPr>
          <p:cNvPr id="126" name="TextBox 11"/>
          <p:cNvSpPr/>
          <p:nvPr/>
        </p:nvSpPr>
        <p:spPr>
          <a:xfrm>
            <a:off x="3493080" y="2377440"/>
            <a:ext cx="242280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122B45"/>
                </a:solidFill>
                <a:effectLst/>
                <a:uFillTx/>
                <a:latin typeface="Calibri"/>
              </a:rPr>
              <a:t>Warm-up</a:t>
            </a:r>
            <a:endParaRPr lang="en-US" sz="2200" b="0" u="none" strike="noStrike">
              <a:solidFill>
                <a:srgbClr val="000000"/>
              </a:solidFill>
              <a:effectLst/>
              <a:uFillTx/>
              <a:latin typeface="Arial"/>
            </a:endParaRPr>
          </a:p>
        </p:txBody>
      </p:sp>
      <p:sp>
        <p:nvSpPr>
          <p:cNvPr id="127" name="TextBox 12"/>
          <p:cNvSpPr/>
          <p:nvPr/>
        </p:nvSpPr>
        <p:spPr>
          <a:xfrm>
            <a:off x="3493080" y="3108960"/>
            <a:ext cx="2422800" cy="20113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A new account only reads until it is old enough, and karma is high enough, to post.</a:t>
            </a:r>
            <a:endParaRPr lang="en-US" sz="1600" b="0" u="none" strike="noStrike">
              <a:solidFill>
                <a:srgbClr val="000000"/>
              </a:solidFill>
              <a:effectLst/>
              <a:uFillTx/>
              <a:latin typeface="Arial"/>
            </a:endParaRPr>
          </a:p>
        </p:txBody>
      </p:sp>
      <p:sp>
        <p:nvSpPr>
          <p:cNvPr id="128" name="Rounded Rectangle 13"/>
          <p:cNvSpPr/>
          <p:nvPr/>
        </p:nvSpPr>
        <p:spPr>
          <a:xfrm>
            <a:off x="6254640" y="1554480"/>
            <a:ext cx="2788560" cy="393156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29" name="TextBox 14"/>
          <p:cNvSpPr/>
          <p:nvPr/>
        </p:nvSpPr>
        <p:spPr>
          <a:xfrm>
            <a:off x="6437520" y="1783080"/>
            <a:ext cx="242280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800" b="1" u="none" strike="noStrike">
                <a:solidFill>
                  <a:srgbClr val="C45C26"/>
                </a:solidFill>
                <a:effectLst/>
                <a:uFillTx/>
                <a:latin typeface="Calibri"/>
              </a:rPr>
              <a:t>3</a:t>
            </a:r>
            <a:endParaRPr lang="en-US" sz="2800" b="0" u="none" strike="noStrike">
              <a:solidFill>
                <a:srgbClr val="000000"/>
              </a:solidFill>
              <a:effectLst/>
              <a:uFillTx/>
              <a:latin typeface="Arial"/>
            </a:endParaRPr>
          </a:p>
        </p:txBody>
      </p:sp>
      <p:sp>
        <p:nvSpPr>
          <p:cNvPr id="130" name="TextBox 15"/>
          <p:cNvSpPr/>
          <p:nvPr/>
        </p:nvSpPr>
        <p:spPr>
          <a:xfrm>
            <a:off x="6437520" y="2377440"/>
            <a:ext cx="242280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122B45"/>
                </a:solidFill>
                <a:effectLst/>
                <a:uFillTx/>
                <a:latin typeface="Calibri"/>
              </a:rPr>
              <a:t>Publish</a:t>
            </a:r>
            <a:endParaRPr lang="en-US" sz="2200" b="0" u="none" strike="noStrike">
              <a:solidFill>
                <a:srgbClr val="000000"/>
              </a:solidFill>
              <a:effectLst/>
              <a:uFillTx/>
              <a:latin typeface="Arial"/>
            </a:endParaRPr>
          </a:p>
        </p:txBody>
      </p:sp>
      <p:sp>
        <p:nvSpPr>
          <p:cNvPr id="131" name="TextBox 16"/>
          <p:cNvSpPr/>
          <p:nvPr/>
        </p:nvSpPr>
        <p:spPr>
          <a:xfrm>
            <a:off x="6437520" y="3108960"/>
            <a:ext cx="2422800" cy="20113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The tool opens the account, reads the community rules, and places the task.</a:t>
            </a:r>
            <a:endParaRPr lang="en-US" sz="1600" b="0" u="none" strike="noStrike">
              <a:solidFill>
                <a:srgbClr val="000000"/>
              </a:solidFill>
              <a:effectLst/>
              <a:uFillTx/>
              <a:latin typeface="Arial"/>
            </a:endParaRPr>
          </a:p>
        </p:txBody>
      </p:sp>
      <p:sp>
        <p:nvSpPr>
          <p:cNvPr id="132" name="Rounded Rectangle 17"/>
          <p:cNvSpPr/>
          <p:nvPr/>
        </p:nvSpPr>
        <p:spPr>
          <a:xfrm>
            <a:off x="9198720" y="1554480"/>
            <a:ext cx="2788560" cy="393156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3" name="TextBox 18"/>
          <p:cNvSpPr/>
          <p:nvPr/>
        </p:nvSpPr>
        <p:spPr>
          <a:xfrm>
            <a:off x="9381600" y="1783080"/>
            <a:ext cx="242280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800" b="1" u="none" strike="noStrike">
                <a:solidFill>
                  <a:srgbClr val="C45C26"/>
                </a:solidFill>
                <a:effectLst/>
                <a:uFillTx/>
                <a:latin typeface="Calibri"/>
              </a:rPr>
              <a:t>4</a:t>
            </a:r>
            <a:endParaRPr lang="en-US" sz="2800" b="0" u="none" strike="noStrike">
              <a:solidFill>
                <a:srgbClr val="000000"/>
              </a:solidFill>
              <a:effectLst/>
              <a:uFillTx/>
              <a:latin typeface="Arial"/>
            </a:endParaRPr>
          </a:p>
        </p:txBody>
      </p:sp>
      <p:sp>
        <p:nvSpPr>
          <p:cNvPr id="134" name="TextBox 19"/>
          <p:cNvSpPr/>
          <p:nvPr/>
        </p:nvSpPr>
        <p:spPr>
          <a:xfrm>
            <a:off x="9381600" y="2377440"/>
            <a:ext cx="242280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122B45"/>
                </a:solidFill>
                <a:effectLst/>
                <a:uFillTx/>
                <a:latin typeface="Calibri"/>
              </a:rPr>
              <a:t>Learn</a:t>
            </a:r>
            <a:endParaRPr lang="en-US" sz="2200" b="0" u="none" strike="noStrike">
              <a:solidFill>
                <a:srgbClr val="000000"/>
              </a:solidFill>
              <a:effectLst/>
              <a:uFillTx/>
              <a:latin typeface="Arial"/>
            </a:endParaRPr>
          </a:p>
        </p:txBody>
      </p:sp>
      <p:sp>
        <p:nvSpPr>
          <p:cNvPr id="135" name="TextBox 20"/>
          <p:cNvSpPr/>
          <p:nvPr/>
        </p:nvSpPr>
        <p:spPr>
          <a:xfrm>
            <a:off x="9381600" y="3108960"/>
            <a:ext cx="2422800" cy="20113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It checks what Reddit did, and it does not repeat a choice that was removed.</a:t>
            </a:r>
            <a:endParaRPr lang="en-US" sz="1600" b="0" u="none" strike="noStrike">
              <a:solidFill>
                <a:srgbClr val="000000"/>
              </a:solidFill>
              <a:effectLst/>
              <a:uFillTx/>
              <a:latin typeface="Arial"/>
            </a:endParaRPr>
          </a:p>
        </p:txBody>
      </p:sp>
      <p:sp>
        <p:nvSpPr>
          <p:cNvPr id="136" name="TextBox 21"/>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137" name="TextBox 22"/>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4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9"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0"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How an account warms up</a:t>
            </a:r>
            <a:endParaRPr lang="en-US" sz="3000" b="0" u="none" strike="noStrike">
              <a:solidFill>
                <a:srgbClr val="000000"/>
              </a:solidFill>
              <a:effectLst/>
              <a:uFillTx/>
              <a:latin typeface="Arial"/>
            </a:endParaRPr>
          </a:p>
        </p:txBody>
      </p:sp>
      <p:sp>
        <p:nvSpPr>
          <p:cNvPr id="141" name="TextBox 4"/>
          <p:cNvSpPr/>
          <p:nvPr/>
        </p:nvSpPr>
        <p:spPr>
          <a:xfrm>
            <a:off x="438840" y="868680"/>
            <a:ext cx="111553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A new account is not handed a client task on day one.</a:t>
            </a:r>
            <a:endParaRPr lang="en-US" sz="2000" b="0" u="none" strike="noStrike">
              <a:solidFill>
                <a:srgbClr val="000000"/>
              </a:solidFill>
              <a:effectLst/>
              <a:uFillTx/>
              <a:latin typeface="Arial"/>
            </a:endParaRPr>
          </a:p>
        </p:txBody>
      </p:sp>
      <p:sp>
        <p:nvSpPr>
          <p:cNvPr id="142" name="Rounded Rectangle 5"/>
          <p:cNvSpPr/>
          <p:nvPr/>
        </p:nvSpPr>
        <p:spPr>
          <a:xfrm>
            <a:off x="365760" y="1463040"/>
            <a:ext cx="3702960" cy="338292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3" name="TextBox 6"/>
          <p:cNvSpPr/>
          <p:nvPr/>
        </p:nvSpPr>
        <p:spPr>
          <a:xfrm>
            <a:off x="567000" y="1691640"/>
            <a:ext cx="329148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C45C26"/>
                </a:solidFill>
                <a:effectLst/>
                <a:uFillTx/>
                <a:latin typeface="Calibri"/>
              </a:rPr>
              <a:t>Days 1 to 7</a:t>
            </a:r>
            <a:endParaRPr lang="en-US" sz="1600" b="0" u="none" strike="noStrike">
              <a:solidFill>
                <a:srgbClr val="000000"/>
              </a:solidFill>
              <a:effectLst/>
              <a:uFillTx/>
              <a:latin typeface="Arial"/>
            </a:endParaRPr>
          </a:p>
        </p:txBody>
      </p:sp>
      <p:sp>
        <p:nvSpPr>
          <p:cNvPr id="144" name="TextBox 7"/>
          <p:cNvSpPr/>
          <p:nvPr/>
        </p:nvSpPr>
        <p:spPr>
          <a:xfrm>
            <a:off x="567000" y="2194560"/>
            <a:ext cx="329148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400" b="1" u="none" strike="noStrike">
                <a:solidFill>
                  <a:srgbClr val="122B45"/>
                </a:solidFill>
                <a:effectLst/>
                <a:uFillTx/>
                <a:latin typeface="Calibri"/>
              </a:rPr>
              <a:t>Browse only</a:t>
            </a:r>
            <a:endParaRPr lang="en-US" sz="2400" b="0" u="none" strike="noStrike">
              <a:solidFill>
                <a:srgbClr val="000000"/>
              </a:solidFill>
              <a:effectLst/>
              <a:uFillTx/>
              <a:latin typeface="Arial"/>
            </a:endParaRPr>
          </a:p>
        </p:txBody>
      </p:sp>
      <p:sp>
        <p:nvSpPr>
          <p:cNvPr id="145" name="TextBox 8"/>
          <p:cNvSpPr/>
          <p:nvPr/>
        </p:nvSpPr>
        <p:spPr>
          <a:xfrm>
            <a:off x="567000" y="2926080"/>
            <a:ext cx="3291480" cy="16455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It reads. It does not comment, and it does not post. This is the week Reddit is hardest on a new account.</a:t>
            </a:r>
            <a:endParaRPr lang="en-US" sz="1600" b="0" u="none" strike="noStrike">
              <a:solidFill>
                <a:srgbClr val="000000"/>
              </a:solidFill>
              <a:effectLst/>
              <a:uFillTx/>
              <a:latin typeface="Arial"/>
            </a:endParaRPr>
          </a:p>
        </p:txBody>
      </p:sp>
      <p:sp>
        <p:nvSpPr>
          <p:cNvPr id="146" name="Rounded Rectangle 9"/>
          <p:cNvSpPr/>
          <p:nvPr/>
        </p:nvSpPr>
        <p:spPr>
          <a:xfrm>
            <a:off x="4251960" y="1463040"/>
            <a:ext cx="3702960" cy="338292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47" name="TextBox 10"/>
          <p:cNvSpPr/>
          <p:nvPr/>
        </p:nvSpPr>
        <p:spPr>
          <a:xfrm>
            <a:off x="4453200" y="1691640"/>
            <a:ext cx="329148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C45C26"/>
                </a:solidFill>
                <a:effectLst/>
                <a:uFillTx/>
                <a:latin typeface="Calibri"/>
              </a:rPr>
              <a:t>After day 7</a:t>
            </a:r>
            <a:endParaRPr lang="en-US" sz="1600" b="0" u="none" strike="noStrike">
              <a:solidFill>
                <a:srgbClr val="000000"/>
              </a:solidFill>
              <a:effectLst/>
              <a:uFillTx/>
              <a:latin typeface="Arial"/>
            </a:endParaRPr>
          </a:p>
        </p:txBody>
      </p:sp>
      <p:sp>
        <p:nvSpPr>
          <p:cNvPr id="148" name="TextBox 11"/>
          <p:cNvSpPr/>
          <p:nvPr/>
        </p:nvSpPr>
        <p:spPr>
          <a:xfrm>
            <a:off x="4453200" y="2194560"/>
            <a:ext cx="329148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400" b="1" u="none" strike="noStrike">
                <a:solidFill>
                  <a:srgbClr val="122B45"/>
                </a:solidFill>
                <a:effectLst/>
                <a:uFillTx/>
                <a:latin typeface="Calibri"/>
              </a:rPr>
              <a:t>Comments start</a:t>
            </a:r>
            <a:endParaRPr lang="en-US" sz="2400" b="0" u="none" strike="noStrike">
              <a:solidFill>
                <a:srgbClr val="000000"/>
              </a:solidFill>
              <a:effectLst/>
              <a:uFillTx/>
              <a:latin typeface="Arial"/>
            </a:endParaRPr>
          </a:p>
        </p:txBody>
      </p:sp>
      <p:sp>
        <p:nvSpPr>
          <p:cNvPr id="149" name="TextBox 12"/>
          <p:cNvSpPr/>
          <p:nvPr/>
        </p:nvSpPr>
        <p:spPr>
          <a:xfrm>
            <a:off x="4453200" y="2926080"/>
            <a:ext cx="3291480" cy="16455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Up to 2 comments per 48 hours. Comments are how the account earns karma. One new community join per sitting.</a:t>
            </a:r>
            <a:endParaRPr lang="en-US" sz="1600" b="0" u="none" strike="noStrike">
              <a:solidFill>
                <a:srgbClr val="000000"/>
              </a:solidFill>
              <a:effectLst/>
              <a:uFillTx/>
              <a:latin typeface="Arial"/>
            </a:endParaRPr>
          </a:p>
        </p:txBody>
      </p:sp>
      <p:sp>
        <p:nvSpPr>
          <p:cNvPr id="150" name="Rounded Rectangle 13"/>
          <p:cNvSpPr/>
          <p:nvPr/>
        </p:nvSpPr>
        <p:spPr>
          <a:xfrm>
            <a:off x="8138160" y="1463040"/>
            <a:ext cx="3702960" cy="338292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1" name="TextBox 14"/>
          <p:cNvSpPr/>
          <p:nvPr/>
        </p:nvSpPr>
        <p:spPr>
          <a:xfrm>
            <a:off x="8339400" y="1691640"/>
            <a:ext cx="329148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C45C26"/>
                </a:solidFill>
                <a:effectLst/>
                <a:uFillTx/>
                <a:latin typeface="Calibri"/>
              </a:rPr>
              <a:t>Karma 10</a:t>
            </a:r>
            <a:endParaRPr lang="en-US" sz="1600" b="0" u="none" strike="noStrike">
              <a:solidFill>
                <a:srgbClr val="000000"/>
              </a:solidFill>
              <a:effectLst/>
              <a:uFillTx/>
              <a:latin typeface="Arial"/>
            </a:endParaRPr>
          </a:p>
        </p:txBody>
      </p:sp>
      <p:sp>
        <p:nvSpPr>
          <p:cNvPr id="152" name="TextBox 15"/>
          <p:cNvSpPr/>
          <p:nvPr/>
        </p:nvSpPr>
        <p:spPr>
          <a:xfrm>
            <a:off x="8339400" y="2194560"/>
            <a:ext cx="3291480" cy="5482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400" b="1" u="none" strike="noStrike">
                <a:solidFill>
                  <a:srgbClr val="122B45"/>
                </a:solidFill>
                <a:effectLst/>
                <a:uFillTx/>
                <a:latin typeface="Calibri"/>
              </a:rPr>
              <a:t>Posts unlock</a:t>
            </a:r>
            <a:endParaRPr lang="en-US" sz="2400" b="0" u="none" strike="noStrike">
              <a:solidFill>
                <a:srgbClr val="000000"/>
              </a:solidFill>
              <a:effectLst/>
              <a:uFillTx/>
              <a:latin typeface="Arial"/>
            </a:endParaRPr>
          </a:p>
        </p:txBody>
      </p:sp>
      <p:sp>
        <p:nvSpPr>
          <p:cNvPr id="153" name="TextBox 16"/>
          <p:cNvSpPr/>
          <p:nvPr/>
        </p:nvSpPr>
        <p:spPr>
          <a:xfrm>
            <a:off x="8339400" y="2926080"/>
            <a:ext cx="3291480" cy="16455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One text post per 48 hours. Below karma 10, the account can comment and cannot post.</a:t>
            </a:r>
            <a:endParaRPr lang="en-US" sz="1600" b="0" u="none" strike="noStrike">
              <a:solidFill>
                <a:srgbClr val="000000"/>
              </a:solidFill>
              <a:effectLst/>
              <a:uFillTx/>
              <a:latin typeface="Arial"/>
            </a:endParaRPr>
          </a:p>
        </p:txBody>
      </p:sp>
      <p:sp>
        <p:nvSpPr>
          <p:cNvPr id="154" name="TextBox 17"/>
          <p:cNvSpPr/>
          <p:nvPr/>
        </p:nvSpPr>
        <p:spPr>
          <a:xfrm>
            <a:off x="438840" y="5074920"/>
            <a:ext cx="11246760" cy="1096920"/>
          </a:xfrm>
          <a:prstGeom prst="rect">
            <a:avLst/>
          </a:prstGeom>
          <a:noFill/>
          <a:ln w="0">
            <a:noFill/>
          </a:ln>
        </p:spPr>
        <p:style>
          <a:lnRef idx="0"/>
          <a:fillRef idx="0"/>
          <a:effectRef idx="0"/>
          <a:fontRef idx="minor"/>
        </p:style>
        <p:txBody>
          <a:bodyPr lIns="90000" tIns="45000" rIns="90000" bIns="45000" anchor="t">
            <a:noAutofit/>
          </a:bodyPr>
          <a:p>
            <a:r>
              <a:rPr lang="en-US" sz="1600" b="0" u="none" strike="noStrike">
                <a:solidFill>
                  <a:srgbClr val="1C2430"/>
                </a:solidFill>
                <a:effectLst/>
                <a:uFillTx/>
                <a:latin typeface="Calibri"/>
              </a:rPr>
              <a:t>If the account is already banned or suspended, the run stops and the report names it.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1C2430"/>
                </a:solidFill>
                <a:effectLst/>
                <a:uFillTx/>
                <a:latin typeface="Calibri"/>
              </a:rPr>
              <a:t>The cap stays on after warm-up: 2 comments and 1 post per account per 48 hours. The same thread is used once across all accounts.</a:t>
            </a:r>
            <a:endParaRPr lang="en-US" sz="1600" b="0" u="none" strike="noStrike">
              <a:solidFill>
                <a:srgbClr val="000000"/>
              </a:solidFill>
              <a:effectLst/>
              <a:uFillTx/>
              <a:latin typeface="Arial"/>
            </a:endParaRPr>
          </a:p>
        </p:txBody>
      </p:sp>
      <p:sp>
        <p:nvSpPr>
          <p:cNvPr id="155" name="TextBox 18"/>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156" name="TextBox 19"/>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5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8"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59"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Before it publishes a task</a:t>
            </a:r>
            <a:endParaRPr lang="en-US" sz="3000" b="0" u="none" strike="noStrike">
              <a:solidFill>
                <a:srgbClr val="000000"/>
              </a:solidFill>
              <a:effectLst/>
              <a:uFillTx/>
              <a:latin typeface="Arial"/>
            </a:endParaRPr>
          </a:p>
        </p:txBody>
      </p:sp>
      <p:sp>
        <p:nvSpPr>
          <p:cNvPr id="160" name="TextBox 4"/>
          <p:cNvSpPr/>
          <p:nvPr/>
        </p:nvSpPr>
        <p:spPr>
          <a:xfrm>
            <a:off x="438840" y="868680"/>
            <a:ext cx="1097244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0" u="none" strike="noStrike">
                <a:solidFill>
                  <a:srgbClr val="5C6B7A"/>
                </a:solidFill>
                <a:effectLst/>
                <a:uFillTx/>
                <a:latin typeface="Calibri"/>
              </a:rPr>
              <a:t>Warm-up is the account rule. These are the task rules.</a:t>
            </a:r>
            <a:endParaRPr lang="en-US" sz="1800" b="0" u="none" strike="noStrike">
              <a:solidFill>
                <a:srgbClr val="000000"/>
              </a:solidFill>
              <a:effectLst/>
              <a:uFillTx/>
              <a:latin typeface="Arial"/>
            </a:endParaRPr>
          </a:p>
        </p:txBody>
      </p:sp>
      <p:sp>
        <p:nvSpPr>
          <p:cNvPr id="161" name="Rectangle 5"/>
          <p:cNvSpPr/>
          <p:nvPr/>
        </p:nvSpPr>
        <p:spPr>
          <a:xfrm>
            <a:off x="438840" y="1371600"/>
            <a:ext cx="11246760" cy="71280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2" name="TextBox 6"/>
          <p:cNvSpPr/>
          <p:nvPr/>
        </p:nvSpPr>
        <p:spPr>
          <a:xfrm>
            <a:off x="640080" y="1536120"/>
            <a:ext cx="658332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Still in the first 7 days</a:t>
            </a:r>
            <a:endParaRPr lang="en-US" sz="1800" b="0" u="none" strike="noStrike">
              <a:solidFill>
                <a:srgbClr val="000000"/>
              </a:solidFill>
              <a:effectLst/>
              <a:uFillTx/>
              <a:latin typeface="Arial"/>
            </a:endParaRPr>
          </a:p>
        </p:txBody>
      </p:sp>
      <p:sp>
        <p:nvSpPr>
          <p:cNvPr id="163" name="TextBox 7"/>
          <p:cNvSpPr/>
          <p:nvPr/>
        </p:nvSpPr>
        <p:spPr>
          <a:xfrm>
            <a:off x="7406640" y="1536120"/>
            <a:ext cx="402300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0" u="none" strike="noStrike">
                <a:solidFill>
                  <a:srgbClr val="1C2430"/>
                </a:solidFill>
                <a:effectLst/>
                <a:uFillTx/>
                <a:latin typeface="Calibri"/>
              </a:rPr>
              <a:t>Browse only</a:t>
            </a:r>
            <a:endParaRPr lang="en-US" sz="1800" b="0" u="none" strike="noStrike">
              <a:solidFill>
                <a:srgbClr val="000000"/>
              </a:solidFill>
              <a:effectLst/>
              <a:uFillTx/>
              <a:latin typeface="Arial"/>
            </a:endParaRPr>
          </a:p>
        </p:txBody>
      </p:sp>
      <p:sp>
        <p:nvSpPr>
          <p:cNvPr id="164" name="Rectangle 8"/>
          <p:cNvSpPr/>
          <p:nvPr/>
        </p:nvSpPr>
        <p:spPr>
          <a:xfrm>
            <a:off x="438840" y="2084760"/>
            <a:ext cx="11246760" cy="712800"/>
          </a:xfrm>
          <a:prstGeom prst="rect">
            <a:avLst/>
          </a:prstGeom>
          <a:solidFill>
            <a:srgbClr val="FBF8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5" name="TextBox 9"/>
          <p:cNvSpPr/>
          <p:nvPr/>
        </p:nvSpPr>
        <p:spPr>
          <a:xfrm>
            <a:off x="640080" y="2249280"/>
            <a:ext cx="658332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Karma under 10</a:t>
            </a:r>
            <a:endParaRPr lang="en-US" sz="1800" b="0" u="none" strike="noStrike">
              <a:solidFill>
                <a:srgbClr val="000000"/>
              </a:solidFill>
              <a:effectLst/>
              <a:uFillTx/>
              <a:latin typeface="Arial"/>
            </a:endParaRPr>
          </a:p>
        </p:txBody>
      </p:sp>
      <p:sp>
        <p:nvSpPr>
          <p:cNvPr id="166" name="TextBox 10"/>
          <p:cNvSpPr/>
          <p:nvPr/>
        </p:nvSpPr>
        <p:spPr>
          <a:xfrm>
            <a:off x="7406640" y="2249280"/>
            <a:ext cx="402300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0" u="none" strike="noStrike">
                <a:solidFill>
                  <a:srgbClr val="1C2430"/>
                </a:solidFill>
                <a:effectLst/>
                <a:uFillTx/>
                <a:latin typeface="Calibri"/>
              </a:rPr>
              <a:t>No post</a:t>
            </a:r>
            <a:endParaRPr lang="en-US" sz="1800" b="0" u="none" strike="noStrike">
              <a:solidFill>
                <a:srgbClr val="000000"/>
              </a:solidFill>
              <a:effectLst/>
              <a:uFillTx/>
              <a:latin typeface="Arial"/>
            </a:endParaRPr>
          </a:p>
        </p:txBody>
      </p:sp>
      <p:sp>
        <p:nvSpPr>
          <p:cNvPr id="167" name="Rectangle 11"/>
          <p:cNvSpPr/>
          <p:nvPr/>
        </p:nvSpPr>
        <p:spPr>
          <a:xfrm>
            <a:off x="438840" y="2797920"/>
            <a:ext cx="11246760" cy="71280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68" name="TextBox 12"/>
          <p:cNvSpPr/>
          <p:nvPr/>
        </p:nvSpPr>
        <p:spPr>
          <a:xfrm>
            <a:off x="640080" y="2962800"/>
            <a:ext cx="658332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Account already banned</a:t>
            </a:r>
            <a:endParaRPr lang="en-US" sz="1800" b="0" u="none" strike="noStrike">
              <a:solidFill>
                <a:srgbClr val="000000"/>
              </a:solidFill>
              <a:effectLst/>
              <a:uFillTx/>
              <a:latin typeface="Arial"/>
            </a:endParaRPr>
          </a:p>
        </p:txBody>
      </p:sp>
      <p:sp>
        <p:nvSpPr>
          <p:cNvPr id="169" name="TextBox 13"/>
          <p:cNvSpPr/>
          <p:nvPr/>
        </p:nvSpPr>
        <p:spPr>
          <a:xfrm>
            <a:off x="7406640" y="2962800"/>
            <a:ext cx="402300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0" u="none" strike="noStrike">
                <a:solidFill>
                  <a:srgbClr val="1C2430"/>
                </a:solidFill>
                <a:effectLst/>
                <a:uFillTx/>
                <a:latin typeface="Calibri"/>
              </a:rPr>
              <a:t>Stops and reports it</a:t>
            </a:r>
            <a:endParaRPr lang="en-US" sz="1800" b="0" u="none" strike="noStrike">
              <a:solidFill>
                <a:srgbClr val="000000"/>
              </a:solidFill>
              <a:effectLst/>
              <a:uFillTx/>
              <a:latin typeface="Arial"/>
            </a:endParaRPr>
          </a:p>
        </p:txBody>
      </p:sp>
      <p:sp>
        <p:nvSpPr>
          <p:cNvPr id="170" name="Rectangle 14"/>
          <p:cNvSpPr/>
          <p:nvPr/>
        </p:nvSpPr>
        <p:spPr>
          <a:xfrm>
            <a:off x="438840" y="3511440"/>
            <a:ext cx="11246760" cy="712800"/>
          </a:xfrm>
          <a:prstGeom prst="rect">
            <a:avLst/>
          </a:prstGeom>
          <a:solidFill>
            <a:srgbClr val="FBF8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1" name="TextBox 15"/>
          <p:cNvSpPr/>
          <p:nvPr/>
        </p:nvSpPr>
        <p:spPr>
          <a:xfrm>
            <a:off x="640080" y="3675960"/>
            <a:ext cx="658332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Thread is not a question, help, suggestion, or review</a:t>
            </a:r>
            <a:endParaRPr lang="en-US" sz="1800" b="0" u="none" strike="noStrike">
              <a:solidFill>
                <a:srgbClr val="000000"/>
              </a:solidFill>
              <a:effectLst/>
              <a:uFillTx/>
              <a:latin typeface="Arial"/>
            </a:endParaRPr>
          </a:p>
        </p:txBody>
      </p:sp>
      <p:sp>
        <p:nvSpPr>
          <p:cNvPr id="172" name="TextBox 16"/>
          <p:cNvSpPr/>
          <p:nvPr/>
        </p:nvSpPr>
        <p:spPr>
          <a:xfrm>
            <a:off x="7406640" y="3675960"/>
            <a:ext cx="402300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0" u="none" strike="noStrike">
                <a:solidFill>
                  <a:srgbClr val="1C2430"/>
                </a:solidFill>
                <a:effectLst/>
                <a:uFillTx/>
                <a:latin typeface="Calibri"/>
              </a:rPr>
              <a:t>Skips it</a:t>
            </a:r>
            <a:endParaRPr lang="en-US" sz="1800" b="0" u="none" strike="noStrike">
              <a:solidFill>
                <a:srgbClr val="000000"/>
              </a:solidFill>
              <a:effectLst/>
              <a:uFillTx/>
              <a:latin typeface="Arial"/>
            </a:endParaRPr>
          </a:p>
        </p:txBody>
      </p:sp>
      <p:sp>
        <p:nvSpPr>
          <p:cNvPr id="173" name="Rectangle 17"/>
          <p:cNvSpPr/>
          <p:nvPr/>
        </p:nvSpPr>
        <p:spPr>
          <a:xfrm>
            <a:off x="438840" y="4224600"/>
            <a:ext cx="11246760" cy="712800"/>
          </a:xfrm>
          <a:prstGeom prst="rect">
            <a:avLst/>
          </a:prstGeom>
          <a:solidFill>
            <a:srgbClr val="FFFFF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4" name="TextBox 18"/>
          <p:cNvSpPr/>
          <p:nvPr/>
        </p:nvSpPr>
        <p:spPr>
          <a:xfrm>
            <a:off x="640080" y="4389120"/>
            <a:ext cx="658332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Community rules do not fit the wording</a:t>
            </a:r>
            <a:endParaRPr lang="en-US" sz="1800" b="0" u="none" strike="noStrike">
              <a:solidFill>
                <a:srgbClr val="000000"/>
              </a:solidFill>
              <a:effectLst/>
              <a:uFillTx/>
              <a:latin typeface="Arial"/>
            </a:endParaRPr>
          </a:p>
        </p:txBody>
      </p:sp>
      <p:sp>
        <p:nvSpPr>
          <p:cNvPr id="175" name="TextBox 19"/>
          <p:cNvSpPr/>
          <p:nvPr/>
        </p:nvSpPr>
        <p:spPr>
          <a:xfrm>
            <a:off x="7406640" y="4389120"/>
            <a:ext cx="402300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0" u="none" strike="noStrike">
                <a:solidFill>
                  <a:srgbClr val="1C2430"/>
                </a:solidFill>
                <a:effectLst/>
                <a:uFillTx/>
                <a:latin typeface="Calibri"/>
              </a:rPr>
              <a:t>Changes the tone, or sits the thread out</a:t>
            </a:r>
            <a:endParaRPr lang="en-US" sz="1800" b="0" u="none" strike="noStrike">
              <a:solidFill>
                <a:srgbClr val="000000"/>
              </a:solidFill>
              <a:effectLst/>
              <a:uFillTx/>
              <a:latin typeface="Arial"/>
            </a:endParaRPr>
          </a:p>
        </p:txBody>
      </p:sp>
      <p:sp>
        <p:nvSpPr>
          <p:cNvPr id="176" name="Rectangle 20"/>
          <p:cNvSpPr/>
          <p:nvPr/>
        </p:nvSpPr>
        <p:spPr>
          <a:xfrm>
            <a:off x="438840" y="4937760"/>
            <a:ext cx="11246760" cy="712800"/>
          </a:xfrm>
          <a:prstGeom prst="rect">
            <a:avLst/>
          </a:prstGeom>
          <a:solidFill>
            <a:srgbClr val="FBF8F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77" name="TextBox 21"/>
          <p:cNvSpPr/>
          <p:nvPr/>
        </p:nvSpPr>
        <p:spPr>
          <a:xfrm>
            <a:off x="640080" y="5102280"/>
            <a:ext cx="658332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Comment or post budget already used</a:t>
            </a:r>
            <a:endParaRPr lang="en-US" sz="1800" b="0" u="none" strike="noStrike">
              <a:solidFill>
                <a:srgbClr val="000000"/>
              </a:solidFill>
              <a:effectLst/>
              <a:uFillTx/>
              <a:latin typeface="Arial"/>
            </a:endParaRPr>
          </a:p>
        </p:txBody>
      </p:sp>
      <p:sp>
        <p:nvSpPr>
          <p:cNvPr id="178" name="TextBox 22"/>
          <p:cNvSpPr/>
          <p:nvPr/>
        </p:nvSpPr>
        <p:spPr>
          <a:xfrm>
            <a:off x="7406640" y="5102280"/>
            <a:ext cx="4023000" cy="383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0" u="none" strike="noStrike">
                <a:solidFill>
                  <a:srgbClr val="1C2430"/>
                </a:solidFill>
                <a:effectLst/>
                <a:uFillTx/>
                <a:latin typeface="Calibri"/>
              </a:rPr>
              <a:t>Waits until the 48 hours are up</a:t>
            </a:r>
            <a:endParaRPr lang="en-US" sz="1800" b="0" u="none" strike="noStrike">
              <a:solidFill>
                <a:srgbClr val="000000"/>
              </a:solidFill>
              <a:effectLst/>
              <a:uFillTx/>
              <a:latin typeface="Arial"/>
            </a:endParaRPr>
          </a:p>
        </p:txBody>
      </p:sp>
      <p:sp>
        <p:nvSpPr>
          <p:cNvPr id="179" name="TextBox 23"/>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180" name="TextBox 24"/>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6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2"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3"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The learning model, and what it uses</a:t>
            </a:r>
            <a:endParaRPr lang="en-US" sz="3000" b="0" u="none" strike="noStrike">
              <a:solidFill>
                <a:srgbClr val="000000"/>
              </a:solidFill>
              <a:effectLst/>
              <a:uFillTx/>
              <a:latin typeface="Arial"/>
            </a:endParaRPr>
          </a:p>
        </p:txBody>
      </p:sp>
      <p:sp>
        <p:nvSpPr>
          <p:cNvPr id="184" name="TextBox 4"/>
          <p:cNvSpPr/>
          <p:nvPr/>
        </p:nvSpPr>
        <p:spPr>
          <a:xfrm>
            <a:off x="438840" y="868680"/>
            <a:ext cx="11155320" cy="5025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0" u="none" strike="noStrike">
                <a:solidFill>
                  <a:srgbClr val="1C2430"/>
                </a:solidFill>
                <a:effectLst/>
                <a:uFillTx/>
                <a:latin typeface="Calibri"/>
              </a:rPr>
              <a:t>Reinforcement learning. A small model scores each choice, keeps the ones Reddit left up, and drops the ones it removed.</a:t>
            </a:r>
            <a:endParaRPr lang="en-US" sz="1800" b="0" u="none" strike="noStrike">
              <a:solidFill>
                <a:srgbClr val="000000"/>
              </a:solidFill>
              <a:effectLst/>
              <a:uFillTx/>
              <a:latin typeface="Arial"/>
            </a:endParaRPr>
          </a:p>
        </p:txBody>
      </p:sp>
      <p:sp>
        <p:nvSpPr>
          <p:cNvPr id="185" name="Rounded Rectangle 5"/>
          <p:cNvSpPr/>
          <p:nvPr/>
        </p:nvSpPr>
        <p:spPr>
          <a:xfrm>
            <a:off x="365760" y="1554480"/>
            <a:ext cx="5760360" cy="10238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6" name="TextBox 6"/>
          <p:cNvSpPr/>
          <p:nvPr/>
        </p:nvSpPr>
        <p:spPr>
          <a:xfrm>
            <a:off x="567000" y="1664280"/>
            <a:ext cx="539460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Karma and account age</a:t>
            </a:r>
            <a:endParaRPr lang="en-US" sz="1600" b="0" u="none" strike="noStrike">
              <a:solidFill>
                <a:srgbClr val="000000"/>
              </a:solidFill>
              <a:effectLst/>
              <a:uFillTx/>
              <a:latin typeface="Arial"/>
            </a:endParaRPr>
          </a:p>
        </p:txBody>
      </p:sp>
      <p:sp>
        <p:nvSpPr>
          <p:cNvPr id="187" name="TextBox 7"/>
          <p:cNvSpPr/>
          <p:nvPr/>
        </p:nvSpPr>
        <p:spPr>
          <a:xfrm>
            <a:off x="567000" y="2011680"/>
            <a:ext cx="539460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A new account is not treated like an old one.</a:t>
            </a:r>
            <a:endParaRPr lang="en-US" sz="1400" b="0" u="none" strike="noStrike">
              <a:solidFill>
                <a:srgbClr val="000000"/>
              </a:solidFill>
              <a:effectLst/>
              <a:uFillTx/>
              <a:latin typeface="Arial"/>
            </a:endParaRPr>
          </a:p>
        </p:txBody>
      </p:sp>
      <p:sp>
        <p:nvSpPr>
          <p:cNvPr id="188" name="Rounded Rectangle 8"/>
          <p:cNvSpPr/>
          <p:nvPr/>
        </p:nvSpPr>
        <p:spPr>
          <a:xfrm>
            <a:off x="365760" y="2697480"/>
            <a:ext cx="5760360" cy="10238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9" name="TextBox 9"/>
          <p:cNvSpPr/>
          <p:nvPr/>
        </p:nvSpPr>
        <p:spPr>
          <a:xfrm>
            <a:off x="567000" y="2807280"/>
            <a:ext cx="539460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The post</a:t>
            </a:r>
            <a:endParaRPr lang="en-US" sz="1600" b="0" u="none" strike="noStrike">
              <a:solidFill>
                <a:srgbClr val="000000"/>
              </a:solidFill>
              <a:effectLst/>
              <a:uFillTx/>
              <a:latin typeface="Arial"/>
            </a:endParaRPr>
          </a:p>
        </p:txBody>
      </p:sp>
      <p:sp>
        <p:nvSpPr>
          <p:cNvPr id="190" name="TextBox 10"/>
          <p:cNvSpPr/>
          <p:nvPr/>
        </p:nvSpPr>
        <p:spPr>
          <a:xfrm>
            <a:off x="567000" y="3154680"/>
            <a:ext cx="539460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Mood, length, and whether it is a question, help, a suggestion, or a review.</a:t>
            </a:r>
            <a:endParaRPr lang="en-US" sz="1400" b="0" u="none" strike="noStrike">
              <a:solidFill>
                <a:srgbClr val="000000"/>
              </a:solidFill>
              <a:effectLst/>
              <a:uFillTx/>
              <a:latin typeface="Arial"/>
            </a:endParaRPr>
          </a:p>
        </p:txBody>
      </p:sp>
      <p:sp>
        <p:nvSpPr>
          <p:cNvPr id="191" name="Rounded Rectangle 11"/>
          <p:cNvSpPr/>
          <p:nvPr/>
        </p:nvSpPr>
        <p:spPr>
          <a:xfrm>
            <a:off x="365760" y="3840480"/>
            <a:ext cx="5760360" cy="10238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2" name="TextBox 12"/>
          <p:cNvSpPr/>
          <p:nvPr/>
        </p:nvSpPr>
        <p:spPr>
          <a:xfrm>
            <a:off x="567000" y="3950280"/>
            <a:ext cx="539460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The community rules</a:t>
            </a:r>
            <a:endParaRPr lang="en-US" sz="1600" b="0" u="none" strike="noStrike">
              <a:solidFill>
                <a:srgbClr val="000000"/>
              </a:solidFill>
              <a:effectLst/>
              <a:uFillTx/>
              <a:latin typeface="Arial"/>
            </a:endParaRPr>
          </a:p>
        </p:txBody>
      </p:sp>
      <p:sp>
        <p:nvSpPr>
          <p:cNvPr id="193" name="TextBox 13"/>
          <p:cNvSpPr/>
          <p:nvPr/>
        </p:nvSpPr>
        <p:spPr>
          <a:xfrm>
            <a:off x="567000" y="4297680"/>
            <a:ext cx="539460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How many rules, how strict, and whether they were read.</a:t>
            </a:r>
            <a:endParaRPr lang="en-US" sz="1400" b="0" u="none" strike="noStrike">
              <a:solidFill>
                <a:srgbClr val="000000"/>
              </a:solidFill>
              <a:effectLst/>
              <a:uFillTx/>
              <a:latin typeface="Arial"/>
            </a:endParaRPr>
          </a:p>
        </p:txBody>
      </p:sp>
      <p:sp>
        <p:nvSpPr>
          <p:cNvPr id="194" name="Rounded Rectangle 14"/>
          <p:cNvSpPr/>
          <p:nvPr/>
        </p:nvSpPr>
        <p:spPr>
          <a:xfrm>
            <a:off x="365760" y="4983480"/>
            <a:ext cx="5760360" cy="102384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5" name="TextBox 15"/>
          <p:cNvSpPr/>
          <p:nvPr/>
        </p:nvSpPr>
        <p:spPr>
          <a:xfrm>
            <a:off x="567000" y="5093280"/>
            <a:ext cx="539460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The moment</a:t>
            </a:r>
            <a:endParaRPr lang="en-US" sz="1600" b="0" u="none" strike="noStrike">
              <a:solidFill>
                <a:srgbClr val="000000"/>
              </a:solidFill>
              <a:effectLst/>
              <a:uFillTx/>
              <a:latin typeface="Arial"/>
            </a:endParaRPr>
          </a:p>
        </p:txBody>
      </p:sp>
      <p:sp>
        <p:nvSpPr>
          <p:cNvPr id="196" name="TextBox 16"/>
          <p:cNvSpPr/>
          <p:nvPr/>
        </p:nvSpPr>
        <p:spPr>
          <a:xfrm>
            <a:off x="567000" y="5440680"/>
            <a:ext cx="539460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Time of day, weekday, and how many comments this sitting already has.</a:t>
            </a:r>
            <a:endParaRPr lang="en-US" sz="1400" b="0" u="none" strike="noStrike">
              <a:solidFill>
                <a:srgbClr val="000000"/>
              </a:solidFill>
              <a:effectLst/>
              <a:uFillTx/>
              <a:latin typeface="Arial"/>
            </a:endParaRPr>
          </a:p>
        </p:txBody>
      </p:sp>
      <p:sp>
        <p:nvSpPr>
          <p:cNvPr id="197" name="Rounded Rectangle 17"/>
          <p:cNvSpPr/>
          <p:nvPr/>
        </p:nvSpPr>
        <p:spPr>
          <a:xfrm>
            <a:off x="6309360" y="1554480"/>
            <a:ext cx="5486040" cy="1023840"/>
          </a:xfrm>
          <a:prstGeom prst="roundRect">
            <a:avLst>
              <a:gd name="adj" fmla="val 8000"/>
            </a:avLst>
          </a:prstGeom>
          <a:solidFill>
            <a:srgbClr val="EEF4F0"/>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98" name="TextBox 18"/>
          <p:cNvSpPr/>
          <p:nvPr/>
        </p:nvSpPr>
        <p:spPr>
          <a:xfrm>
            <a:off x="6510600" y="1664280"/>
            <a:ext cx="512028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Comment, or only read</a:t>
            </a:r>
            <a:endParaRPr lang="en-US" sz="1600" b="0" u="none" strike="noStrike">
              <a:solidFill>
                <a:srgbClr val="000000"/>
              </a:solidFill>
              <a:effectLst/>
              <a:uFillTx/>
              <a:latin typeface="Arial"/>
            </a:endParaRPr>
          </a:p>
        </p:txBody>
      </p:sp>
      <p:sp>
        <p:nvSpPr>
          <p:cNvPr id="199" name="TextBox 19"/>
          <p:cNvSpPr/>
          <p:nvPr/>
        </p:nvSpPr>
        <p:spPr>
          <a:xfrm>
            <a:off x="6510600" y="2011680"/>
            <a:ext cx="512028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After it has read that community’s rules.</a:t>
            </a:r>
            <a:endParaRPr lang="en-US" sz="1400" b="0" u="none" strike="noStrike">
              <a:solidFill>
                <a:srgbClr val="000000"/>
              </a:solidFill>
              <a:effectLst/>
              <a:uFillTx/>
              <a:latin typeface="Arial"/>
            </a:endParaRPr>
          </a:p>
        </p:txBody>
      </p:sp>
      <p:sp>
        <p:nvSpPr>
          <p:cNvPr id="200" name="Rounded Rectangle 20"/>
          <p:cNvSpPr/>
          <p:nvPr/>
        </p:nvSpPr>
        <p:spPr>
          <a:xfrm>
            <a:off x="6309360" y="2697480"/>
            <a:ext cx="5486040" cy="1023840"/>
          </a:xfrm>
          <a:prstGeom prst="roundRect">
            <a:avLst>
              <a:gd name="adj" fmla="val 8000"/>
            </a:avLst>
          </a:prstGeom>
          <a:solidFill>
            <a:srgbClr val="EEF4F0"/>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1" name="TextBox 21"/>
          <p:cNvSpPr/>
          <p:nvPr/>
        </p:nvSpPr>
        <p:spPr>
          <a:xfrm>
            <a:off x="6510600" y="2807280"/>
            <a:ext cx="512028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The tone</a:t>
            </a:r>
            <a:endParaRPr lang="en-US" sz="1600" b="0" u="none" strike="noStrike">
              <a:solidFill>
                <a:srgbClr val="000000"/>
              </a:solidFill>
              <a:effectLst/>
              <a:uFillTx/>
              <a:latin typeface="Arial"/>
            </a:endParaRPr>
          </a:p>
        </p:txBody>
      </p:sp>
      <p:sp>
        <p:nvSpPr>
          <p:cNvPr id="202" name="TextBox 22"/>
          <p:cNvSpPr/>
          <p:nvPr/>
        </p:nvSpPr>
        <p:spPr>
          <a:xfrm>
            <a:off x="6510600" y="3154680"/>
            <a:ext cx="512028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Friendly, expert, funny, or neutral.</a:t>
            </a:r>
            <a:endParaRPr lang="en-US" sz="1400" b="0" u="none" strike="noStrike">
              <a:solidFill>
                <a:srgbClr val="000000"/>
              </a:solidFill>
              <a:effectLst/>
              <a:uFillTx/>
              <a:latin typeface="Arial"/>
            </a:endParaRPr>
          </a:p>
        </p:txBody>
      </p:sp>
      <p:sp>
        <p:nvSpPr>
          <p:cNvPr id="203" name="Rounded Rectangle 23"/>
          <p:cNvSpPr/>
          <p:nvPr/>
        </p:nvSpPr>
        <p:spPr>
          <a:xfrm>
            <a:off x="6309360" y="3840480"/>
            <a:ext cx="5486040" cy="1023840"/>
          </a:xfrm>
          <a:prstGeom prst="roundRect">
            <a:avLst>
              <a:gd name="adj" fmla="val 8000"/>
            </a:avLst>
          </a:prstGeom>
          <a:solidFill>
            <a:srgbClr val="EEF4F0"/>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4" name="TextBox 24"/>
          <p:cNvSpPr/>
          <p:nvPr/>
        </p:nvSpPr>
        <p:spPr>
          <a:xfrm>
            <a:off x="6510600" y="3950280"/>
            <a:ext cx="512028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Skip the thread</a:t>
            </a:r>
            <a:endParaRPr lang="en-US" sz="1600" b="0" u="none" strike="noStrike">
              <a:solidFill>
                <a:srgbClr val="000000"/>
              </a:solidFill>
              <a:effectLst/>
              <a:uFillTx/>
              <a:latin typeface="Arial"/>
            </a:endParaRPr>
          </a:p>
        </p:txBody>
      </p:sp>
      <p:sp>
        <p:nvSpPr>
          <p:cNvPr id="205" name="TextBox 25"/>
          <p:cNvSpPr/>
          <p:nvPr/>
        </p:nvSpPr>
        <p:spPr>
          <a:xfrm>
            <a:off x="6510600" y="4297680"/>
            <a:ext cx="512028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When this kind of thread has been getting removals.</a:t>
            </a:r>
            <a:endParaRPr lang="en-US" sz="1400" b="0" u="none" strike="noStrike">
              <a:solidFill>
                <a:srgbClr val="000000"/>
              </a:solidFill>
              <a:effectLst/>
              <a:uFillTx/>
              <a:latin typeface="Arial"/>
            </a:endParaRPr>
          </a:p>
        </p:txBody>
      </p:sp>
      <p:sp>
        <p:nvSpPr>
          <p:cNvPr id="206" name="Rounded Rectangle 26"/>
          <p:cNvSpPr/>
          <p:nvPr/>
        </p:nvSpPr>
        <p:spPr>
          <a:xfrm>
            <a:off x="6309360" y="4983480"/>
            <a:ext cx="5486040" cy="1023840"/>
          </a:xfrm>
          <a:prstGeom prst="roundRect">
            <a:avLst>
              <a:gd name="adj" fmla="val 8000"/>
            </a:avLst>
          </a:prstGeom>
          <a:solidFill>
            <a:srgbClr val="EEF4F0"/>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07" name="TextBox 27"/>
          <p:cNvSpPr/>
          <p:nvPr/>
        </p:nvSpPr>
        <p:spPr>
          <a:xfrm>
            <a:off x="6510600" y="5093280"/>
            <a:ext cx="512028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Where a post goes</a:t>
            </a:r>
            <a:endParaRPr lang="en-US" sz="1600" b="0" u="none" strike="noStrike">
              <a:solidFill>
                <a:srgbClr val="000000"/>
              </a:solidFill>
              <a:effectLst/>
              <a:uFillTx/>
              <a:latin typeface="Arial"/>
            </a:endParaRPr>
          </a:p>
        </p:txBody>
      </p:sp>
      <p:sp>
        <p:nvSpPr>
          <p:cNvPr id="208" name="TextBox 28"/>
          <p:cNvSpPr/>
          <p:nvPr/>
        </p:nvSpPr>
        <p:spPr>
          <a:xfrm>
            <a:off x="6510600" y="5440680"/>
            <a:ext cx="512028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If the first community fails, which one to try next.</a:t>
            </a:r>
            <a:endParaRPr lang="en-US" sz="1400" b="0" u="none" strike="noStrike">
              <a:solidFill>
                <a:srgbClr val="000000"/>
              </a:solidFill>
              <a:effectLst/>
              <a:uFillTx/>
              <a:latin typeface="Arial"/>
            </a:endParaRPr>
          </a:p>
        </p:txBody>
      </p:sp>
      <p:sp>
        <p:nvSpPr>
          <p:cNvPr id="209" name="TextBox 29"/>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210" name="TextBox 30"/>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7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2"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3"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How a lesson is learned</a:t>
            </a:r>
            <a:endParaRPr lang="en-US" sz="3000" b="0" u="none" strike="noStrike">
              <a:solidFill>
                <a:srgbClr val="000000"/>
              </a:solidFill>
              <a:effectLst/>
              <a:uFillTx/>
              <a:latin typeface="Arial"/>
            </a:endParaRPr>
          </a:p>
        </p:txBody>
      </p:sp>
      <p:sp>
        <p:nvSpPr>
          <p:cNvPr id="214" name="Rounded Rectangle 4"/>
          <p:cNvSpPr/>
          <p:nvPr/>
        </p:nvSpPr>
        <p:spPr>
          <a:xfrm>
            <a:off x="365760" y="960120"/>
            <a:ext cx="7589160" cy="11152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5" name="TextBox 5"/>
          <p:cNvSpPr/>
          <p:nvPr/>
        </p:nvSpPr>
        <p:spPr>
          <a:xfrm>
            <a:off x="548640" y="1252800"/>
            <a:ext cx="54828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C45C26"/>
                </a:solidFill>
                <a:effectLst/>
                <a:uFillTx/>
                <a:latin typeface="Calibri"/>
              </a:rPr>
              <a:t>1</a:t>
            </a:r>
            <a:endParaRPr lang="en-US" sz="2200" b="0" u="none" strike="noStrike">
              <a:solidFill>
                <a:srgbClr val="000000"/>
              </a:solidFill>
              <a:effectLst/>
              <a:uFillTx/>
              <a:latin typeface="Arial"/>
            </a:endParaRPr>
          </a:p>
        </p:txBody>
      </p:sp>
      <p:sp>
        <p:nvSpPr>
          <p:cNvPr id="216" name="TextBox 6"/>
          <p:cNvSpPr/>
          <p:nvPr/>
        </p:nvSpPr>
        <p:spPr>
          <a:xfrm>
            <a:off x="1188720" y="1097280"/>
            <a:ext cx="649188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It chooses</a:t>
            </a:r>
            <a:endParaRPr lang="en-US" sz="1800" b="0" u="none" strike="noStrike">
              <a:solidFill>
                <a:srgbClr val="000000"/>
              </a:solidFill>
              <a:effectLst/>
              <a:uFillTx/>
              <a:latin typeface="Arial"/>
            </a:endParaRPr>
          </a:p>
        </p:txBody>
      </p:sp>
      <p:sp>
        <p:nvSpPr>
          <p:cNvPr id="217" name="TextBox 7"/>
          <p:cNvSpPr/>
          <p:nvPr/>
        </p:nvSpPr>
        <p:spPr>
          <a:xfrm>
            <a:off x="1188720" y="1508760"/>
            <a:ext cx="649188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500" b="0" u="none" strike="noStrike">
                <a:solidFill>
                  <a:srgbClr val="1C2430"/>
                </a:solidFill>
                <a:effectLst/>
                <a:uFillTx/>
                <a:latin typeface="Calibri"/>
              </a:rPr>
              <a:t>Comment or read. A tone. Or skip.</a:t>
            </a:r>
            <a:endParaRPr lang="en-US" sz="1500" b="0" u="none" strike="noStrike">
              <a:solidFill>
                <a:srgbClr val="000000"/>
              </a:solidFill>
              <a:effectLst/>
              <a:uFillTx/>
              <a:latin typeface="Arial"/>
            </a:endParaRPr>
          </a:p>
        </p:txBody>
      </p:sp>
      <p:sp>
        <p:nvSpPr>
          <p:cNvPr id="218" name="Rounded Rectangle 8"/>
          <p:cNvSpPr/>
          <p:nvPr/>
        </p:nvSpPr>
        <p:spPr>
          <a:xfrm>
            <a:off x="365760" y="2194560"/>
            <a:ext cx="7589160" cy="11152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9" name="TextBox 9"/>
          <p:cNvSpPr/>
          <p:nvPr/>
        </p:nvSpPr>
        <p:spPr>
          <a:xfrm>
            <a:off x="548640" y="2487240"/>
            <a:ext cx="54828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C45C26"/>
                </a:solidFill>
                <a:effectLst/>
                <a:uFillTx/>
                <a:latin typeface="Calibri"/>
              </a:rPr>
              <a:t>2</a:t>
            </a:r>
            <a:endParaRPr lang="en-US" sz="2200" b="0" u="none" strike="noStrike">
              <a:solidFill>
                <a:srgbClr val="000000"/>
              </a:solidFill>
              <a:effectLst/>
              <a:uFillTx/>
              <a:latin typeface="Arial"/>
            </a:endParaRPr>
          </a:p>
        </p:txBody>
      </p:sp>
      <p:sp>
        <p:nvSpPr>
          <p:cNvPr id="220" name="TextBox 10"/>
          <p:cNvSpPr/>
          <p:nvPr/>
        </p:nvSpPr>
        <p:spPr>
          <a:xfrm>
            <a:off x="1188720" y="2331720"/>
            <a:ext cx="649188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It scores the action now</a:t>
            </a:r>
            <a:endParaRPr lang="en-US" sz="1800" b="0" u="none" strike="noStrike">
              <a:solidFill>
                <a:srgbClr val="000000"/>
              </a:solidFill>
              <a:effectLst/>
              <a:uFillTx/>
              <a:latin typeface="Arial"/>
            </a:endParaRPr>
          </a:p>
        </p:txBody>
      </p:sp>
      <p:sp>
        <p:nvSpPr>
          <p:cNvPr id="221" name="TextBox 11"/>
          <p:cNvSpPr/>
          <p:nvPr/>
        </p:nvSpPr>
        <p:spPr>
          <a:xfrm>
            <a:off x="1188720" y="2743200"/>
            <a:ext cx="649188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500" b="0" u="none" strike="noStrike">
                <a:solidFill>
                  <a:srgbClr val="1C2430"/>
                </a:solidFill>
                <a:effectLst/>
                <a:uFillTx/>
                <a:latin typeface="Calibri"/>
              </a:rPr>
              <a:t>Rules were read. The join worked. The comment is visible on the thread.</a:t>
            </a:r>
            <a:endParaRPr lang="en-US" sz="1500" b="0" u="none" strike="noStrike">
              <a:solidFill>
                <a:srgbClr val="000000"/>
              </a:solidFill>
              <a:effectLst/>
              <a:uFillTx/>
              <a:latin typeface="Arial"/>
            </a:endParaRPr>
          </a:p>
        </p:txBody>
      </p:sp>
      <p:sp>
        <p:nvSpPr>
          <p:cNvPr id="222" name="Rounded Rectangle 12"/>
          <p:cNvSpPr/>
          <p:nvPr/>
        </p:nvSpPr>
        <p:spPr>
          <a:xfrm>
            <a:off x="365760" y="3429000"/>
            <a:ext cx="7589160" cy="11152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3" name="TextBox 13"/>
          <p:cNvSpPr/>
          <p:nvPr/>
        </p:nvSpPr>
        <p:spPr>
          <a:xfrm>
            <a:off x="548640" y="3721680"/>
            <a:ext cx="54828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C45C26"/>
                </a:solidFill>
                <a:effectLst/>
                <a:uFillTx/>
                <a:latin typeface="Calibri"/>
              </a:rPr>
              <a:t>3</a:t>
            </a:r>
            <a:endParaRPr lang="en-US" sz="2200" b="0" u="none" strike="noStrike">
              <a:solidFill>
                <a:srgbClr val="000000"/>
              </a:solidFill>
              <a:effectLst/>
              <a:uFillTx/>
              <a:latin typeface="Arial"/>
            </a:endParaRPr>
          </a:p>
        </p:txBody>
      </p:sp>
      <p:sp>
        <p:nvSpPr>
          <p:cNvPr id="224" name="TextBox 14"/>
          <p:cNvSpPr/>
          <p:nvPr/>
        </p:nvSpPr>
        <p:spPr>
          <a:xfrm>
            <a:off x="1188720" y="3566160"/>
            <a:ext cx="649188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It checks again later</a:t>
            </a:r>
            <a:endParaRPr lang="en-US" sz="1800" b="0" u="none" strike="noStrike">
              <a:solidFill>
                <a:srgbClr val="000000"/>
              </a:solidFill>
              <a:effectLst/>
              <a:uFillTx/>
              <a:latin typeface="Arial"/>
            </a:endParaRPr>
          </a:p>
        </p:txBody>
      </p:sp>
      <p:sp>
        <p:nvSpPr>
          <p:cNvPr id="225" name="TextBox 15"/>
          <p:cNvSpPr/>
          <p:nvPr/>
        </p:nvSpPr>
        <p:spPr>
          <a:xfrm>
            <a:off x="1188720" y="3977640"/>
            <a:ext cx="649188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500" b="0" u="none" strike="noStrike">
                <a:solidFill>
                  <a:srgbClr val="1C2430"/>
                </a:solidFill>
                <a:effectLst/>
                <a:uFillTx/>
                <a:latin typeface="Calibri"/>
              </a:rPr>
              <a:t>Still live and upvoted. Filtered. Removed. Or the score went down.</a:t>
            </a:r>
            <a:endParaRPr lang="en-US" sz="1500" b="0" u="none" strike="noStrike">
              <a:solidFill>
                <a:srgbClr val="000000"/>
              </a:solidFill>
              <a:effectLst/>
              <a:uFillTx/>
              <a:latin typeface="Arial"/>
            </a:endParaRPr>
          </a:p>
        </p:txBody>
      </p:sp>
      <p:sp>
        <p:nvSpPr>
          <p:cNvPr id="226" name="Rounded Rectangle 16"/>
          <p:cNvSpPr/>
          <p:nvPr/>
        </p:nvSpPr>
        <p:spPr>
          <a:xfrm>
            <a:off x="365760" y="4663440"/>
            <a:ext cx="7589160" cy="11152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27" name="TextBox 17"/>
          <p:cNvSpPr/>
          <p:nvPr/>
        </p:nvSpPr>
        <p:spPr>
          <a:xfrm>
            <a:off x="548640" y="4956120"/>
            <a:ext cx="54828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C45C26"/>
                </a:solidFill>
                <a:effectLst/>
                <a:uFillTx/>
                <a:latin typeface="Calibri"/>
              </a:rPr>
              <a:t>4</a:t>
            </a:r>
            <a:endParaRPr lang="en-US" sz="2200" b="0" u="none" strike="noStrike">
              <a:solidFill>
                <a:srgbClr val="000000"/>
              </a:solidFill>
              <a:effectLst/>
              <a:uFillTx/>
              <a:latin typeface="Arial"/>
            </a:endParaRPr>
          </a:p>
        </p:txBody>
      </p:sp>
      <p:sp>
        <p:nvSpPr>
          <p:cNvPr id="228" name="TextBox 18"/>
          <p:cNvSpPr/>
          <p:nvPr/>
        </p:nvSpPr>
        <p:spPr>
          <a:xfrm>
            <a:off x="1188720" y="4800600"/>
            <a:ext cx="649188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1" u="none" strike="noStrike">
                <a:solidFill>
                  <a:srgbClr val="122B45"/>
                </a:solidFill>
                <a:effectLst/>
                <a:uFillTx/>
                <a:latin typeface="Calibri"/>
              </a:rPr>
              <a:t>It changes the next choice</a:t>
            </a:r>
            <a:endParaRPr lang="en-US" sz="1800" b="0" u="none" strike="noStrike">
              <a:solidFill>
                <a:srgbClr val="000000"/>
              </a:solidFill>
              <a:effectLst/>
              <a:uFillTx/>
              <a:latin typeface="Arial"/>
            </a:endParaRPr>
          </a:p>
        </p:txBody>
      </p:sp>
      <p:sp>
        <p:nvSpPr>
          <p:cNvPr id="229" name="TextBox 19"/>
          <p:cNvSpPr/>
          <p:nvPr/>
        </p:nvSpPr>
        <p:spPr>
          <a:xfrm>
            <a:off x="1188720" y="5212080"/>
            <a:ext cx="6491880" cy="4111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500" b="0" u="none" strike="noStrike">
                <a:solidFill>
                  <a:srgbClr val="1C2430"/>
                </a:solidFill>
                <a:effectLst/>
                <a:uFillTx/>
                <a:latin typeface="Calibri"/>
              </a:rPr>
              <a:t>A tone that keeps getting removed in that kind of community is dropped.</a:t>
            </a:r>
            <a:endParaRPr lang="en-US" sz="1500" b="0" u="none" strike="noStrike">
              <a:solidFill>
                <a:srgbClr val="000000"/>
              </a:solidFill>
              <a:effectLst/>
              <a:uFillTx/>
              <a:latin typeface="Arial"/>
            </a:endParaRPr>
          </a:p>
        </p:txBody>
      </p:sp>
      <p:sp>
        <p:nvSpPr>
          <p:cNvPr id="230" name="Rounded Rectangle 20"/>
          <p:cNvSpPr/>
          <p:nvPr/>
        </p:nvSpPr>
        <p:spPr>
          <a:xfrm>
            <a:off x="8138160" y="960120"/>
            <a:ext cx="3657240" cy="4937400"/>
          </a:xfrm>
          <a:prstGeom prst="roundRect">
            <a:avLst>
              <a:gd name="adj" fmla="val 8000"/>
            </a:avLst>
          </a:prstGeom>
          <a:solidFill>
            <a:srgbClr val="122B45"/>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31" name="TextBox 21"/>
          <p:cNvSpPr/>
          <p:nvPr/>
        </p:nvSpPr>
        <p:spPr>
          <a:xfrm>
            <a:off x="8366760" y="1234440"/>
            <a:ext cx="3245760" cy="7311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E8B896"/>
                </a:solidFill>
                <a:effectLst/>
                <a:uFillTx/>
                <a:latin typeface="Calibri"/>
              </a:rPr>
              <a:t>What the scores mean</a:t>
            </a:r>
            <a:endParaRPr lang="en-US" sz="1600" b="0" u="none" strike="noStrike">
              <a:solidFill>
                <a:srgbClr val="000000"/>
              </a:solidFill>
              <a:effectLst/>
              <a:uFillTx/>
              <a:latin typeface="Arial"/>
            </a:endParaRPr>
          </a:p>
        </p:txBody>
      </p:sp>
      <p:sp>
        <p:nvSpPr>
          <p:cNvPr id="232" name="TextBox 22"/>
          <p:cNvSpPr/>
          <p:nvPr/>
        </p:nvSpPr>
        <p:spPr>
          <a:xfrm>
            <a:off x="8366760" y="2103120"/>
            <a:ext cx="20113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FFFFFF"/>
                </a:solidFill>
                <a:effectLst/>
                <a:uFillTx/>
                <a:latin typeface="Calibri"/>
              </a:rPr>
              <a:t>Comment stayed up</a:t>
            </a:r>
            <a:endParaRPr lang="en-US" sz="1400" b="0" u="none" strike="noStrike">
              <a:solidFill>
                <a:srgbClr val="000000"/>
              </a:solidFill>
              <a:effectLst/>
              <a:uFillTx/>
              <a:latin typeface="Arial"/>
            </a:endParaRPr>
          </a:p>
        </p:txBody>
      </p:sp>
      <p:sp>
        <p:nvSpPr>
          <p:cNvPr id="233" name="TextBox 23"/>
          <p:cNvSpPr/>
          <p:nvPr/>
        </p:nvSpPr>
        <p:spPr>
          <a:xfrm>
            <a:off x="10241280" y="2103120"/>
            <a:ext cx="13255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1" u="none" strike="noStrike">
                <a:solidFill>
                  <a:srgbClr val="E8B896"/>
                </a:solidFill>
                <a:effectLst/>
                <a:uFillTx/>
                <a:latin typeface="Calibri"/>
              </a:rPr>
              <a:t>Good</a:t>
            </a:r>
            <a:endParaRPr lang="en-US" sz="1400" b="0" u="none" strike="noStrike">
              <a:solidFill>
                <a:srgbClr val="000000"/>
              </a:solidFill>
              <a:effectLst/>
              <a:uFillTx/>
              <a:latin typeface="Arial"/>
            </a:endParaRPr>
          </a:p>
        </p:txBody>
      </p:sp>
      <p:sp>
        <p:nvSpPr>
          <p:cNvPr id="234" name="TextBox 24"/>
          <p:cNvSpPr/>
          <p:nvPr/>
        </p:nvSpPr>
        <p:spPr>
          <a:xfrm>
            <a:off x="8366760" y="2670120"/>
            <a:ext cx="20113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FFFFFF"/>
                </a:solidFill>
                <a:effectLst/>
                <a:uFillTx/>
                <a:latin typeface="Calibri"/>
              </a:rPr>
              <a:t>Upvotes</a:t>
            </a:r>
            <a:endParaRPr lang="en-US" sz="1400" b="0" u="none" strike="noStrike">
              <a:solidFill>
                <a:srgbClr val="000000"/>
              </a:solidFill>
              <a:effectLst/>
              <a:uFillTx/>
              <a:latin typeface="Arial"/>
            </a:endParaRPr>
          </a:p>
        </p:txBody>
      </p:sp>
      <p:sp>
        <p:nvSpPr>
          <p:cNvPr id="235" name="TextBox 25"/>
          <p:cNvSpPr/>
          <p:nvPr/>
        </p:nvSpPr>
        <p:spPr>
          <a:xfrm>
            <a:off x="10241280" y="2670120"/>
            <a:ext cx="13255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1" u="none" strike="noStrike">
                <a:solidFill>
                  <a:srgbClr val="E8B896"/>
                </a:solidFill>
                <a:effectLst/>
                <a:uFillTx/>
                <a:latin typeface="Calibri"/>
              </a:rPr>
              <a:t>Better</a:t>
            </a:r>
            <a:endParaRPr lang="en-US" sz="1400" b="0" u="none" strike="noStrike">
              <a:solidFill>
                <a:srgbClr val="000000"/>
              </a:solidFill>
              <a:effectLst/>
              <a:uFillTx/>
              <a:latin typeface="Arial"/>
            </a:endParaRPr>
          </a:p>
        </p:txBody>
      </p:sp>
      <p:sp>
        <p:nvSpPr>
          <p:cNvPr id="236" name="TextBox 26"/>
          <p:cNvSpPr/>
          <p:nvPr/>
        </p:nvSpPr>
        <p:spPr>
          <a:xfrm>
            <a:off x="8366760" y="3237120"/>
            <a:ext cx="20113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FFFFFF"/>
                </a:solidFill>
                <a:effectLst/>
                <a:uFillTx/>
                <a:latin typeface="Calibri"/>
              </a:rPr>
              <a:t>Filtered</a:t>
            </a:r>
            <a:endParaRPr lang="en-US" sz="1400" b="0" u="none" strike="noStrike">
              <a:solidFill>
                <a:srgbClr val="000000"/>
              </a:solidFill>
              <a:effectLst/>
              <a:uFillTx/>
              <a:latin typeface="Arial"/>
            </a:endParaRPr>
          </a:p>
        </p:txBody>
      </p:sp>
      <p:sp>
        <p:nvSpPr>
          <p:cNvPr id="237" name="TextBox 27"/>
          <p:cNvSpPr/>
          <p:nvPr/>
        </p:nvSpPr>
        <p:spPr>
          <a:xfrm>
            <a:off x="10241280" y="3237120"/>
            <a:ext cx="13255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1" u="none" strike="noStrike">
                <a:solidFill>
                  <a:srgbClr val="E8B896"/>
                </a:solidFill>
                <a:effectLst/>
                <a:uFillTx/>
                <a:latin typeface="Calibri"/>
              </a:rPr>
              <a:t>Avoid</a:t>
            </a:r>
            <a:endParaRPr lang="en-US" sz="1400" b="0" u="none" strike="noStrike">
              <a:solidFill>
                <a:srgbClr val="000000"/>
              </a:solidFill>
              <a:effectLst/>
              <a:uFillTx/>
              <a:latin typeface="Arial"/>
            </a:endParaRPr>
          </a:p>
        </p:txBody>
      </p:sp>
      <p:sp>
        <p:nvSpPr>
          <p:cNvPr id="238" name="TextBox 28"/>
          <p:cNvSpPr/>
          <p:nvPr/>
        </p:nvSpPr>
        <p:spPr>
          <a:xfrm>
            <a:off x="8366760" y="3803760"/>
            <a:ext cx="20113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FFFFFF"/>
                </a:solidFill>
                <a:effectLst/>
                <a:uFillTx/>
                <a:latin typeface="Calibri"/>
              </a:rPr>
              <a:t>Removed</a:t>
            </a:r>
            <a:endParaRPr lang="en-US" sz="1400" b="0" u="none" strike="noStrike">
              <a:solidFill>
                <a:srgbClr val="000000"/>
              </a:solidFill>
              <a:effectLst/>
              <a:uFillTx/>
              <a:latin typeface="Arial"/>
            </a:endParaRPr>
          </a:p>
        </p:txBody>
      </p:sp>
      <p:sp>
        <p:nvSpPr>
          <p:cNvPr id="239" name="TextBox 29"/>
          <p:cNvSpPr/>
          <p:nvPr/>
        </p:nvSpPr>
        <p:spPr>
          <a:xfrm>
            <a:off x="10241280" y="3803760"/>
            <a:ext cx="13255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1" u="none" strike="noStrike">
                <a:solidFill>
                  <a:srgbClr val="E8B896"/>
                </a:solidFill>
                <a:effectLst/>
                <a:uFillTx/>
                <a:latin typeface="Calibri"/>
              </a:rPr>
              <a:t>Stop that choice</a:t>
            </a:r>
            <a:endParaRPr lang="en-US" sz="1400" b="0" u="none" strike="noStrike">
              <a:solidFill>
                <a:srgbClr val="000000"/>
              </a:solidFill>
              <a:effectLst/>
              <a:uFillTx/>
              <a:latin typeface="Arial"/>
            </a:endParaRPr>
          </a:p>
        </p:txBody>
      </p:sp>
      <p:sp>
        <p:nvSpPr>
          <p:cNvPr id="240" name="TextBox 30"/>
          <p:cNvSpPr/>
          <p:nvPr/>
        </p:nvSpPr>
        <p:spPr>
          <a:xfrm>
            <a:off x="8366760" y="4370760"/>
            <a:ext cx="20113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FFFFFF"/>
                </a:solidFill>
                <a:effectLst/>
                <a:uFillTx/>
                <a:latin typeface="Calibri"/>
              </a:rPr>
              <a:t>Post stayed up</a:t>
            </a:r>
            <a:endParaRPr lang="en-US" sz="1400" b="0" u="none" strike="noStrike">
              <a:solidFill>
                <a:srgbClr val="000000"/>
              </a:solidFill>
              <a:effectLst/>
              <a:uFillTx/>
              <a:latin typeface="Arial"/>
            </a:endParaRPr>
          </a:p>
        </p:txBody>
      </p:sp>
      <p:sp>
        <p:nvSpPr>
          <p:cNvPr id="241" name="TextBox 31"/>
          <p:cNvSpPr/>
          <p:nvPr/>
        </p:nvSpPr>
        <p:spPr>
          <a:xfrm>
            <a:off x="10241280" y="4370760"/>
            <a:ext cx="13255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1" u="none" strike="noStrike">
                <a:solidFill>
                  <a:srgbClr val="E8B896"/>
                </a:solidFill>
                <a:effectLst/>
                <a:uFillTx/>
                <a:latin typeface="Calibri"/>
              </a:rPr>
              <a:t>Good</a:t>
            </a:r>
            <a:endParaRPr lang="en-US" sz="1400" b="0" u="none" strike="noStrike">
              <a:solidFill>
                <a:srgbClr val="000000"/>
              </a:solidFill>
              <a:effectLst/>
              <a:uFillTx/>
              <a:latin typeface="Arial"/>
            </a:endParaRPr>
          </a:p>
        </p:txBody>
      </p:sp>
      <p:sp>
        <p:nvSpPr>
          <p:cNvPr id="242" name="TextBox 32"/>
          <p:cNvSpPr/>
          <p:nvPr/>
        </p:nvSpPr>
        <p:spPr>
          <a:xfrm>
            <a:off x="8366760" y="4937760"/>
            <a:ext cx="20113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FFFFFF"/>
                </a:solidFill>
                <a:effectLst/>
                <a:uFillTx/>
                <a:latin typeface="Calibri"/>
              </a:rPr>
              <a:t>Post removed</a:t>
            </a:r>
            <a:endParaRPr lang="en-US" sz="1400" b="0" u="none" strike="noStrike">
              <a:solidFill>
                <a:srgbClr val="000000"/>
              </a:solidFill>
              <a:effectLst/>
              <a:uFillTx/>
              <a:latin typeface="Arial"/>
            </a:endParaRPr>
          </a:p>
        </p:txBody>
      </p:sp>
      <p:sp>
        <p:nvSpPr>
          <p:cNvPr id="243" name="TextBox 33"/>
          <p:cNvSpPr/>
          <p:nvPr/>
        </p:nvSpPr>
        <p:spPr>
          <a:xfrm>
            <a:off x="10241280" y="4937760"/>
            <a:ext cx="132552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1" u="none" strike="noStrike">
                <a:solidFill>
                  <a:srgbClr val="E8B896"/>
                </a:solidFill>
                <a:effectLst/>
                <a:uFillTx/>
                <a:latin typeface="Calibri"/>
              </a:rPr>
              <a:t>Bad</a:t>
            </a:r>
            <a:endParaRPr lang="en-US" sz="1400" b="0" u="none" strike="noStrike">
              <a:solidFill>
                <a:srgbClr val="000000"/>
              </a:solidFill>
              <a:effectLst/>
              <a:uFillTx/>
              <a:latin typeface="Arial"/>
            </a:endParaRPr>
          </a:p>
        </p:txBody>
      </p:sp>
      <p:sp>
        <p:nvSpPr>
          <p:cNvPr id="244" name="TextBox 34"/>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245" name="TextBox 35"/>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8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7"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8"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Results from the runs we already have</a:t>
            </a:r>
            <a:endParaRPr lang="en-US" sz="3000" b="0" u="none" strike="noStrike">
              <a:solidFill>
                <a:srgbClr val="000000"/>
              </a:solidFill>
              <a:effectLst/>
              <a:uFillTx/>
              <a:latin typeface="Arial"/>
            </a:endParaRPr>
          </a:p>
        </p:txBody>
      </p:sp>
      <p:sp>
        <p:nvSpPr>
          <p:cNvPr id="249" name="TextBox 4"/>
          <p:cNvSpPr/>
          <p:nvPr/>
        </p:nvSpPr>
        <p:spPr>
          <a:xfrm>
            <a:off x="438840" y="841320"/>
            <a:ext cx="11155320" cy="2923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5C6B7A"/>
                </a:solidFill>
                <a:effectLst/>
                <a:uFillTx/>
                <a:latin typeface="Calibri"/>
              </a:rPr>
              <a:t>Logged from 27 Aug to 1 Oct 2026.    25 sessions.    100 account sittings.</a:t>
            </a:r>
            <a:endParaRPr lang="en-US" sz="1600" b="0" u="none" strike="noStrike">
              <a:solidFill>
                <a:srgbClr val="000000"/>
              </a:solidFill>
              <a:effectLst/>
              <a:uFillTx/>
              <a:latin typeface="Arial"/>
            </a:endParaRPr>
          </a:p>
        </p:txBody>
      </p:sp>
      <p:sp>
        <p:nvSpPr>
          <p:cNvPr id="250" name="Rounded Rectangle 5"/>
          <p:cNvSpPr/>
          <p:nvPr/>
        </p:nvSpPr>
        <p:spPr>
          <a:xfrm>
            <a:off x="365760" y="1280160"/>
            <a:ext cx="2815920" cy="278856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1" name="TextBox 6"/>
          <p:cNvSpPr/>
          <p:nvPr/>
        </p:nvSpPr>
        <p:spPr>
          <a:xfrm>
            <a:off x="511920" y="1417320"/>
            <a:ext cx="2514240" cy="6854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400" b="1" u="none" strike="noStrike">
                <a:solidFill>
                  <a:srgbClr val="C45C26"/>
                </a:solidFill>
                <a:effectLst/>
                <a:uFillTx/>
                <a:latin typeface="Calibri"/>
              </a:rPr>
              <a:t>88%</a:t>
            </a:r>
            <a:endParaRPr lang="en-US" sz="3400" b="0" u="none" strike="noStrike">
              <a:solidFill>
                <a:srgbClr val="000000"/>
              </a:solidFill>
              <a:effectLst/>
              <a:uFillTx/>
              <a:latin typeface="Arial"/>
            </a:endParaRPr>
          </a:p>
        </p:txBody>
      </p:sp>
      <p:sp>
        <p:nvSpPr>
          <p:cNvPr id="252" name="TextBox 7"/>
          <p:cNvSpPr/>
          <p:nvPr/>
        </p:nvSpPr>
        <p:spPr>
          <a:xfrm>
            <a:off x="511920" y="2194560"/>
            <a:ext cx="2514240" cy="959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500" b="1" u="none" strike="noStrike">
                <a:solidFill>
                  <a:srgbClr val="122B45"/>
                </a:solidFill>
                <a:effectLst/>
                <a:uFillTx/>
                <a:latin typeface="Calibri"/>
              </a:rPr>
              <a:t>of its decisions now score as a success</a:t>
            </a:r>
            <a:endParaRPr lang="en-US" sz="1500" b="0" u="none" strike="noStrike">
              <a:solidFill>
                <a:srgbClr val="000000"/>
              </a:solidFill>
              <a:effectLst/>
              <a:uFillTx/>
              <a:latin typeface="Arial"/>
            </a:endParaRPr>
          </a:p>
        </p:txBody>
      </p:sp>
      <p:sp>
        <p:nvSpPr>
          <p:cNvPr id="253" name="TextBox 8"/>
          <p:cNvSpPr/>
          <p:nvPr/>
        </p:nvSpPr>
        <p:spPr>
          <a:xfrm>
            <a:off x="511920" y="3246120"/>
            <a:ext cx="251424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300" b="0" u="none" strike="noStrike">
                <a:solidFill>
                  <a:srgbClr val="5C6B7A"/>
                </a:solidFill>
                <a:effectLst/>
                <a:uFillTx/>
                <a:latin typeface="Calibri"/>
              </a:rPr>
              <a:t>Was 0 of 10 on the first log, 27 Aug.</a:t>
            </a:r>
            <a:endParaRPr lang="en-US" sz="1300" b="0" u="none" strike="noStrike">
              <a:solidFill>
                <a:srgbClr val="000000"/>
              </a:solidFill>
              <a:effectLst/>
              <a:uFillTx/>
              <a:latin typeface="Arial"/>
            </a:endParaRPr>
          </a:p>
        </p:txBody>
      </p:sp>
      <p:sp>
        <p:nvSpPr>
          <p:cNvPr id="254" name="Rounded Rectangle 9"/>
          <p:cNvSpPr/>
          <p:nvPr/>
        </p:nvSpPr>
        <p:spPr>
          <a:xfrm>
            <a:off x="3310200" y="1280160"/>
            <a:ext cx="2815920" cy="278856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5" name="TextBox 10"/>
          <p:cNvSpPr/>
          <p:nvPr/>
        </p:nvSpPr>
        <p:spPr>
          <a:xfrm>
            <a:off x="3456360" y="1417320"/>
            <a:ext cx="2514240" cy="6854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400" b="1" u="none" strike="noStrike">
                <a:solidFill>
                  <a:srgbClr val="C45C26"/>
                </a:solidFill>
                <a:effectLst/>
                <a:uFillTx/>
                <a:latin typeface="Calibri"/>
              </a:rPr>
              <a:t>+1.28</a:t>
            </a:r>
            <a:endParaRPr lang="en-US" sz="3400" b="0" u="none" strike="noStrike">
              <a:solidFill>
                <a:srgbClr val="000000"/>
              </a:solidFill>
              <a:effectLst/>
              <a:uFillTx/>
              <a:latin typeface="Arial"/>
            </a:endParaRPr>
          </a:p>
        </p:txBody>
      </p:sp>
      <p:sp>
        <p:nvSpPr>
          <p:cNvPr id="256" name="TextBox 11"/>
          <p:cNvSpPr/>
          <p:nvPr/>
        </p:nvSpPr>
        <p:spPr>
          <a:xfrm>
            <a:off x="3456360" y="2194560"/>
            <a:ext cx="2514240" cy="959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500" b="1" u="none" strike="noStrike">
                <a:solidFill>
                  <a:srgbClr val="122B45"/>
                </a:solidFill>
                <a:effectLst/>
                <a:uFillTx/>
                <a:latin typeface="Calibri"/>
              </a:rPr>
              <a:t>average reward, from −1.0 at the start</a:t>
            </a:r>
            <a:endParaRPr lang="en-US" sz="1500" b="0" u="none" strike="noStrike">
              <a:solidFill>
                <a:srgbClr val="000000"/>
              </a:solidFill>
              <a:effectLst/>
              <a:uFillTx/>
              <a:latin typeface="Arial"/>
            </a:endParaRPr>
          </a:p>
        </p:txBody>
      </p:sp>
      <p:sp>
        <p:nvSpPr>
          <p:cNvPr id="257" name="TextBox 12"/>
          <p:cNvSpPr/>
          <p:nvPr/>
        </p:nvSpPr>
        <p:spPr>
          <a:xfrm>
            <a:off x="3456360" y="3246120"/>
            <a:ext cx="251424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300" b="0" u="none" strike="noStrike">
                <a:solidFill>
                  <a:srgbClr val="5C6B7A"/>
                </a:solidFill>
                <a:effectLst/>
                <a:uFillTx/>
                <a:latin typeface="Calibri"/>
              </a:rPr>
              <a:t>Graded checks: 86% positive, reward +1.90.</a:t>
            </a:r>
            <a:endParaRPr lang="en-US" sz="1300" b="0" u="none" strike="noStrike">
              <a:solidFill>
                <a:srgbClr val="000000"/>
              </a:solidFill>
              <a:effectLst/>
              <a:uFillTx/>
              <a:latin typeface="Arial"/>
            </a:endParaRPr>
          </a:p>
        </p:txBody>
      </p:sp>
      <p:sp>
        <p:nvSpPr>
          <p:cNvPr id="258" name="Rounded Rectangle 13"/>
          <p:cNvSpPr/>
          <p:nvPr/>
        </p:nvSpPr>
        <p:spPr>
          <a:xfrm>
            <a:off x="6254640" y="1280160"/>
            <a:ext cx="2815920" cy="278856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59" name="TextBox 14"/>
          <p:cNvSpPr/>
          <p:nvPr/>
        </p:nvSpPr>
        <p:spPr>
          <a:xfrm>
            <a:off x="6400800" y="1417320"/>
            <a:ext cx="2514240" cy="6854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400" b="1" u="none" strike="noStrike">
                <a:solidFill>
                  <a:srgbClr val="C45C26"/>
                </a:solidFill>
                <a:effectLst/>
                <a:uFillTx/>
                <a:latin typeface="Calibri"/>
              </a:rPr>
              <a:t>48</a:t>
            </a:r>
            <a:endParaRPr lang="en-US" sz="3400" b="0" u="none" strike="noStrike">
              <a:solidFill>
                <a:srgbClr val="000000"/>
              </a:solidFill>
              <a:effectLst/>
              <a:uFillTx/>
              <a:latin typeface="Arial"/>
            </a:endParaRPr>
          </a:p>
        </p:txBody>
      </p:sp>
      <p:sp>
        <p:nvSpPr>
          <p:cNvPr id="260" name="TextBox 15"/>
          <p:cNvSpPr/>
          <p:nvPr/>
        </p:nvSpPr>
        <p:spPr>
          <a:xfrm>
            <a:off x="6400800" y="2194560"/>
            <a:ext cx="2514240" cy="959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500" b="1" u="none" strike="noStrike">
                <a:solidFill>
                  <a:srgbClr val="122B45"/>
                </a:solidFill>
                <a:effectLst/>
                <a:uFillTx/>
                <a:latin typeface="Calibri"/>
              </a:rPr>
              <a:t>comments published in those sittings</a:t>
            </a:r>
            <a:endParaRPr lang="en-US" sz="1500" b="0" u="none" strike="noStrike">
              <a:solidFill>
                <a:srgbClr val="000000"/>
              </a:solidFill>
              <a:effectLst/>
              <a:uFillTx/>
              <a:latin typeface="Arial"/>
            </a:endParaRPr>
          </a:p>
        </p:txBody>
      </p:sp>
      <p:sp>
        <p:nvSpPr>
          <p:cNvPr id="261" name="TextBox 16"/>
          <p:cNvSpPr/>
          <p:nvPr/>
        </p:nvSpPr>
        <p:spPr>
          <a:xfrm>
            <a:off x="6400800" y="3246120"/>
            <a:ext cx="251424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300" b="0" u="none" strike="noStrike">
                <a:solidFill>
                  <a:srgbClr val="5C6B7A"/>
                </a:solidFill>
                <a:effectLst/>
                <a:uFillTx/>
                <a:latin typeface="Calibri"/>
              </a:rPr>
              <a:t>Most sittings leave one comment, then stop.</a:t>
            </a:r>
            <a:endParaRPr lang="en-US" sz="1300" b="0" u="none" strike="noStrike">
              <a:solidFill>
                <a:srgbClr val="000000"/>
              </a:solidFill>
              <a:effectLst/>
              <a:uFillTx/>
              <a:latin typeface="Arial"/>
            </a:endParaRPr>
          </a:p>
        </p:txBody>
      </p:sp>
      <p:sp>
        <p:nvSpPr>
          <p:cNvPr id="262" name="Rounded Rectangle 17"/>
          <p:cNvSpPr/>
          <p:nvPr/>
        </p:nvSpPr>
        <p:spPr>
          <a:xfrm>
            <a:off x="9198720" y="1280160"/>
            <a:ext cx="2815920" cy="278856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3" name="TextBox 18"/>
          <p:cNvSpPr/>
          <p:nvPr/>
        </p:nvSpPr>
        <p:spPr>
          <a:xfrm>
            <a:off x="9345240" y="1417320"/>
            <a:ext cx="2514240" cy="6854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400" b="1" u="none" strike="noStrike">
                <a:solidFill>
                  <a:srgbClr val="C45C26"/>
                </a:solidFill>
                <a:effectLst/>
                <a:uFillTx/>
                <a:latin typeface="Calibri"/>
              </a:rPr>
              <a:t>2</a:t>
            </a:r>
            <a:endParaRPr lang="en-US" sz="3400" b="0" u="none" strike="noStrike">
              <a:solidFill>
                <a:srgbClr val="000000"/>
              </a:solidFill>
              <a:effectLst/>
              <a:uFillTx/>
              <a:latin typeface="Arial"/>
            </a:endParaRPr>
          </a:p>
        </p:txBody>
      </p:sp>
      <p:sp>
        <p:nvSpPr>
          <p:cNvPr id="264" name="TextBox 19"/>
          <p:cNvSpPr/>
          <p:nvPr/>
        </p:nvSpPr>
        <p:spPr>
          <a:xfrm>
            <a:off x="9345240" y="2194560"/>
            <a:ext cx="2514240" cy="95976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500" b="1" u="none" strike="noStrike">
                <a:solidFill>
                  <a:srgbClr val="122B45"/>
                </a:solidFill>
                <a:effectLst/>
                <a:uFillTx/>
                <a:latin typeface="Calibri"/>
              </a:rPr>
              <a:t>banned accounts found and not used</a:t>
            </a:r>
            <a:endParaRPr lang="en-US" sz="1500" b="0" u="none" strike="noStrike">
              <a:solidFill>
                <a:srgbClr val="000000"/>
              </a:solidFill>
              <a:effectLst/>
              <a:uFillTx/>
              <a:latin typeface="Arial"/>
            </a:endParaRPr>
          </a:p>
        </p:txBody>
      </p:sp>
      <p:sp>
        <p:nvSpPr>
          <p:cNvPr id="265" name="TextBox 20"/>
          <p:cNvSpPr/>
          <p:nvPr/>
        </p:nvSpPr>
        <p:spPr>
          <a:xfrm>
            <a:off x="9345240" y="3246120"/>
            <a:ext cx="251424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300" b="0" u="none" strike="noStrike">
                <a:solidFill>
                  <a:srgbClr val="5C6B7A"/>
                </a:solidFill>
                <a:effectLst/>
                <a:uFillTx/>
                <a:latin typeface="Calibri"/>
              </a:rPr>
              <a:t>26 Sep. Latest run, 1 Oct: 0 banned of 4.</a:t>
            </a:r>
            <a:endParaRPr lang="en-US" sz="1300" b="0" u="none" strike="noStrike">
              <a:solidFill>
                <a:srgbClr val="000000"/>
              </a:solidFill>
              <a:effectLst/>
              <a:uFillTx/>
              <a:latin typeface="Arial"/>
            </a:endParaRPr>
          </a:p>
        </p:txBody>
      </p:sp>
      <p:sp>
        <p:nvSpPr>
          <p:cNvPr id="266" name="Rounded Rectangle 21"/>
          <p:cNvSpPr/>
          <p:nvPr/>
        </p:nvSpPr>
        <p:spPr>
          <a:xfrm>
            <a:off x="365760" y="4251960"/>
            <a:ext cx="11429640" cy="19656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67" name="TextBox 22"/>
          <p:cNvSpPr/>
          <p:nvPr/>
        </p:nvSpPr>
        <p:spPr>
          <a:xfrm>
            <a:off x="594360" y="4407480"/>
            <a:ext cx="10972440" cy="2923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How to read the 88%</a:t>
            </a:r>
            <a:endParaRPr lang="en-US" sz="1600" b="0" u="none" strike="noStrike">
              <a:solidFill>
                <a:srgbClr val="000000"/>
              </a:solidFill>
              <a:effectLst/>
              <a:uFillTx/>
              <a:latin typeface="Arial"/>
            </a:endParaRPr>
          </a:p>
        </p:txBody>
      </p:sp>
      <p:sp>
        <p:nvSpPr>
          <p:cNvPr id="268" name="TextBox 23"/>
          <p:cNvSpPr/>
          <p:nvPr/>
        </p:nvSpPr>
        <p:spPr>
          <a:xfrm>
            <a:off x="594360" y="4800600"/>
            <a:ext cx="10972440" cy="1188360"/>
          </a:xfrm>
          <a:prstGeom prst="rect">
            <a:avLst/>
          </a:prstGeom>
          <a:noFill/>
          <a:ln w="0">
            <a:noFill/>
          </a:ln>
        </p:spPr>
        <p:style>
          <a:lnRef idx="0"/>
          <a:fillRef idx="0"/>
          <a:effectRef idx="0"/>
          <a:fontRef idx="minor"/>
        </p:style>
        <p:txBody>
          <a:bodyPr lIns="90000" tIns="45000" rIns="90000" bIns="45000" anchor="t">
            <a:noAutofit/>
          </a:bodyPr>
          <a:p>
            <a:r>
              <a:rPr lang="en-US" sz="1500" b="0" u="none" strike="noStrike">
                <a:solidFill>
                  <a:srgbClr val="1C2430"/>
                </a:solidFill>
                <a:effectLst/>
                <a:uFillTx/>
                <a:latin typeface="Calibri"/>
              </a:rPr>
              <a:t>That number is the learning model scoring its own decisions. It is not “88% of comments are still on Reddit.”</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1C2430"/>
                </a:solidFill>
                <a:effectLst/>
                <a:uFillTx/>
                <a:latin typeface="Calibri"/>
              </a:rPr>
              <a:t>Posts are the weak part. 1 post confirmed live. 20 attempts failed. Most sittings skip the post because karma is under 10, which is the warm-up rule doing its job.</a:t>
            </a:r>
            <a:endParaRPr lang="en-US" sz="1500" b="0" u="none" strike="noStrike">
              <a:solidFill>
                <a:srgbClr val="000000"/>
              </a:solidFill>
              <a:effectLst/>
              <a:uFillTx/>
              <a:latin typeface="Arial"/>
            </a:endParaRPr>
          </a:p>
        </p:txBody>
      </p:sp>
      <p:sp>
        <p:nvSpPr>
          <p:cNvPr id="269" name="TextBox 24"/>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270" name="TextBox 25"/>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9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2"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3"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What this does for Klarivo</a:t>
            </a:r>
            <a:endParaRPr lang="en-US" sz="3000" b="0" u="none" strike="noStrike">
              <a:solidFill>
                <a:srgbClr val="000000"/>
              </a:solidFill>
              <a:effectLst/>
              <a:uFillTx/>
              <a:latin typeface="Arial"/>
            </a:endParaRPr>
          </a:p>
        </p:txBody>
      </p:sp>
      <p:sp>
        <p:nvSpPr>
          <p:cNvPr id="274" name="Rounded Rectangle 4"/>
          <p:cNvSpPr/>
          <p:nvPr/>
        </p:nvSpPr>
        <p:spPr>
          <a:xfrm>
            <a:off x="365760" y="914400"/>
            <a:ext cx="11429640" cy="9324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5" name="TextBox 5"/>
          <p:cNvSpPr/>
          <p:nvPr/>
        </p:nvSpPr>
        <p:spPr>
          <a:xfrm>
            <a:off x="594360" y="987480"/>
            <a:ext cx="1097244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Publishers stop the manual posting</a:t>
            </a:r>
            <a:endParaRPr lang="en-US" sz="1600" b="0" u="none" strike="noStrike">
              <a:solidFill>
                <a:srgbClr val="000000"/>
              </a:solidFill>
              <a:effectLst/>
              <a:uFillTx/>
              <a:latin typeface="Arial"/>
            </a:endParaRPr>
          </a:p>
        </p:txBody>
      </p:sp>
      <p:sp>
        <p:nvSpPr>
          <p:cNvPr id="276" name="TextBox 6"/>
          <p:cNvSpPr/>
          <p:nvPr/>
        </p:nvSpPr>
        <p:spPr>
          <a:xfrm>
            <a:off x="594360" y="1353240"/>
            <a:ext cx="1097244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They keep preparing the work in CRM. The tool does the Reddit activity.</a:t>
            </a:r>
            <a:endParaRPr lang="en-US" sz="1400" b="0" u="none" strike="noStrike">
              <a:solidFill>
                <a:srgbClr val="000000"/>
              </a:solidFill>
              <a:effectLst/>
              <a:uFillTx/>
              <a:latin typeface="Arial"/>
            </a:endParaRPr>
          </a:p>
        </p:txBody>
      </p:sp>
      <p:sp>
        <p:nvSpPr>
          <p:cNvPr id="277" name="Rounded Rectangle 7"/>
          <p:cNvSpPr/>
          <p:nvPr/>
        </p:nvSpPr>
        <p:spPr>
          <a:xfrm>
            <a:off x="365760" y="1938600"/>
            <a:ext cx="11429640" cy="9324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8" name="TextBox 8"/>
          <p:cNvSpPr/>
          <p:nvPr/>
        </p:nvSpPr>
        <p:spPr>
          <a:xfrm>
            <a:off x="594360" y="2011680"/>
            <a:ext cx="1097244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More client work from the same team</a:t>
            </a:r>
            <a:endParaRPr lang="en-US" sz="1600" b="0" u="none" strike="noStrike">
              <a:solidFill>
                <a:srgbClr val="000000"/>
              </a:solidFill>
              <a:effectLst/>
              <a:uFillTx/>
              <a:latin typeface="Arial"/>
            </a:endParaRPr>
          </a:p>
        </p:txBody>
      </p:sp>
      <p:sp>
        <p:nvSpPr>
          <p:cNvPr id="279" name="TextBox 9"/>
          <p:cNvSpPr/>
          <p:nvPr/>
        </p:nvSpPr>
        <p:spPr>
          <a:xfrm>
            <a:off x="594360" y="2377440"/>
            <a:ext cx="1097244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The queue, the caps, and the warm-up are in the tool, not in someone’s memory.</a:t>
            </a:r>
            <a:endParaRPr lang="en-US" sz="1400" b="0" u="none" strike="noStrike">
              <a:solidFill>
                <a:srgbClr val="000000"/>
              </a:solidFill>
              <a:effectLst/>
              <a:uFillTx/>
              <a:latin typeface="Arial"/>
            </a:endParaRPr>
          </a:p>
        </p:txBody>
      </p:sp>
      <p:sp>
        <p:nvSpPr>
          <p:cNvPr id="280" name="Rounded Rectangle 10"/>
          <p:cNvSpPr/>
          <p:nvPr/>
        </p:nvSpPr>
        <p:spPr>
          <a:xfrm>
            <a:off x="365760" y="2962800"/>
            <a:ext cx="11429640" cy="9324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1" name="TextBox 11"/>
          <p:cNvSpPr/>
          <p:nvPr/>
        </p:nvSpPr>
        <p:spPr>
          <a:xfrm>
            <a:off x="594360" y="3035880"/>
            <a:ext cx="1097244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Accounts last longer</a:t>
            </a:r>
            <a:endParaRPr lang="en-US" sz="1600" b="0" u="none" strike="noStrike">
              <a:solidFill>
                <a:srgbClr val="000000"/>
              </a:solidFill>
              <a:effectLst/>
              <a:uFillTx/>
              <a:latin typeface="Arial"/>
            </a:endParaRPr>
          </a:p>
        </p:txBody>
      </p:sp>
      <p:sp>
        <p:nvSpPr>
          <p:cNvPr id="282" name="TextBox 12"/>
          <p:cNvSpPr/>
          <p:nvPr/>
        </p:nvSpPr>
        <p:spPr>
          <a:xfrm>
            <a:off x="594360" y="3401640"/>
            <a:ext cx="1097244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A new account reads for a week. A banned account is stopped. The 48-hour cap is enforced.</a:t>
            </a:r>
            <a:endParaRPr lang="en-US" sz="1400" b="0" u="none" strike="noStrike">
              <a:solidFill>
                <a:srgbClr val="000000"/>
              </a:solidFill>
              <a:effectLst/>
              <a:uFillTx/>
              <a:latin typeface="Arial"/>
            </a:endParaRPr>
          </a:p>
        </p:txBody>
      </p:sp>
      <p:sp>
        <p:nvSpPr>
          <p:cNvPr id="283" name="Rounded Rectangle 13"/>
          <p:cNvSpPr/>
          <p:nvPr/>
        </p:nvSpPr>
        <p:spPr>
          <a:xfrm>
            <a:off x="365760" y="3986640"/>
            <a:ext cx="11429640" cy="9324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4" name="TextBox 14"/>
          <p:cNvSpPr/>
          <p:nvPr/>
        </p:nvSpPr>
        <p:spPr>
          <a:xfrm>
            <a:off x="594360" y="4060080"/>
            <a:ext cx="1097244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Removals become a lesson</a:t>
            </a:r>
            <a:endParaRPr lang="en-US" sz="1600" b="0" u="none" strike="noStrike">
              <a:solidFill>
                <a:srgbClr val="000000"/>
              </a:solidFill>
              <a:effectLst/>
              <a:uFillTx/>
              <a:latin typeface="Arial"/>
            </a:endParaRPr>
          </a:p>
        </p:txBody>
      </p:sp>
      <p:sp>
        <p:nvSpPr>
          <p:cNvPr id="285" name="TextBox 15"/>
          <p:cNvSpPr/>
          <p:nvPr/>
        </p:nvSpPr>
        <p:spPr>
          <a:xfrm>
            <a:off x="594360" y="4425840"/>
            <a:ext cx="1097244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The model drops tones and threads that Reddit has already taken down. A manual team repeats them.</a:t>
            </a:r>
            <a:endParaRPr lang="en-US" sz="1400" b="0" u="none" strike="noStrike">
              <a:solidFill>
                <a:srgbClr val="000000"/>
              </a:solidFill>
              <a:effectLst/>
              <a:uFillTx/>
              <a:latin typeface="Arial"/>
            </a:endParaRPr>
          </a:p>
        </p:txBody>
      </p:sp>
      <p:sp>
        <p:nvSpPr>
          <p:cNvPr id="286" name="Rounded Rectangle 16"/>
          <p:cNvSpPr/>
          <p:nvPr/>
        </p:nvSpPr>
        <p:spPr>
          <a:xfrm>
            <a:off x="365760" y="5010840"/>
            <a:ext cx="11429640" cy="9324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87" name="TextBox 17"/>
          <p:cNvSpPr/>
          <p:nvPr/>
        </p:nvSpPr>
        <p:spPr>
          <a:xfrm>
            <a:off x="594360" y="5083920"/>
            <a:ext cx="1097244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A number we can stand next to a client</a:t>
            </a:r>
            <a:endParaRPr lang="en-US" sz="1600" b="0" u="none" strike="noStrike">
              <a:solidFill>
                <a:srgbClr val="000000"/>
              </a:solidFill>
              <a:effectLst/>
              <a:uFillTx/>
              <a:latin typeface="Arial"/>
            </a:endParaRPr>
          </a:p>
        </p:txBody>
      </p:sp>
      <p:sp>
        <p:nvSpPr>
          <p:cNvPr id="288" name="TextBox 18"/>
          <p:cNvSpPr/>
          <p:nvPr/>
        </p:nvSpPr>
        <p:spPr>
          <a:xfrm>
            <a:off x="594360" y="5449680"/>
            <a:ext cx="1097244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Assigned, published, live, removed, banned. After every run.</a:t>
            </a:r>
            <a:endParaRPr lang="en-US" sz="1400" b="0" u="none" strike="noStrike">
              <a:solidFill>
                <a:srgbClr val="000000"/>
              </a:solidFill>
              <a:effectLst/>
              <a:uFillTx/>
              <a:latin typeface="Arial"/>
            </a:endParaRPr>
          </a:p>
        </p:txBody>
      </p:sp>
      <p:sp>
        <p:nvSpPr>
          <p:cNvPr id="289" name="TextBox 19"/>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290" name="TextBox 20"/>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10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2"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3"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What we add next</a:t>
            </a:r>
            <a:endParaRPr lang="en-US" sz="3000" b="0" u="none" strike="noStrike">
              <a:solidFill>
                <a:srgbClr val="000000"/>
              </a:solidFill>
              <a:effectLst/>
              <a:uFillTx/>
              <a:latin typeface="Arial"/>
            </a:endParaRPr>
          </a:p>
        </p:txBody>
      </p:sp>
      <p:sp>
        <p:nvSpPr>
          <p:cNvPr id="294" name="TextBox 4"/>
          <p:cNvSpPr/>
          <p:nvPr/>
        </p:nvSpPr>
        <p:spPr>
          <a:xfrm>
            <a:off x="438840" y="841320"/>
            <a:ext cx="11155320" cy="31968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800" b="0" u="none" strike="noStrike">
                <a:solidFill>
                  <a:srgbClr val="1C2430"/>
                </a:solidFill>
                <a:effectLst/>
                <a:uFillTx/>
                <a:latin typeface="Calibri"/>
              </a:rPr>
              <a:t>The runner exists. These are the pieces that make it a Klarivo system.</a:t>
            </a:r>
            <a:endParaRPr lang="en-US" sz="1800" b="0" u="none" strike="noStrike">
              <a:solidFill>
                <a:srgbClr val="000000"/>
              </a:solidFill>
              <a:effectLst/>
              <a:uFillTx/>
              <a:latin typeface="Arial"/>
            </a:endParaRPr>
          </a:p>
        </p:txBody>
      </p:sp>
      <p:sp>
        <p:nvSpPr>
          <p:cNvPr id="295" name="Rounded Rectangle 5"/>
          <p:cNvSpPr/>
          <p:nvPr/>
        </p:nvSpPr>
        <p:spPr>
          <a:xfrm>
            <a:off x="365760" y="1325880"/>
            <a:ext cx="5714640" cy="14626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6" name="TextBox 6"/>
          <p:cNvSpPr/>
          <p:nvPr/>
        </p:nvSpPr>
        <p:spPr>
          <a:xfrm>
            <a:off x="567000" y="1490400"/>
            <a:ext cx="530316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CRM sends the task</a:t>
            </a:r>
            <a:endParaRPr lang="en-US" sz="1600" b="0" u="none" strike="noStrike">
              <a:solidFill>
                <a:srgbClr val="000000"/>
              </a:solidFill>
              <a:effectLst/>
              <a:uFillTx/>
              <a:latin typeface="Arial"/>
            </a:endParaRPr>
          </a:p>
        </p:txBody>
      </p:sp>
      <p:sp>
        <p:nvSpPr>
          <p:cNvPr id="297" name="TextBox 7"/>
          <p:cNvSpPr/>
          <p:nvPr/>
        </p:nvSpPr>
        <p:spPr>
          <a:xfrm>
            <a:off x="567000" y="1965960"/>
            <a:ext cx="530316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Comment, post, account, subreddit, and client come from CRM. No separate sheet.</a:t>
            </a:r>
            <a:endParaRPr lang="en-US" sz="1400" b="0" u="none" strike="noStrike">
              <a:solidFill>
                <a:srgbClr val="000000"/>
              </a:solidFill>
              <a:effectLst/>
              <a:uFillTx/>
              <a:latin typeface="Arial"/>
            </a:endParaRPr>
          </a:p>
        </p:txBody>
      </p:sp>
      <p:sp>
        <p:nvSpPr>
          <p:cNvPr id="298" name="Rounded Rectangle 8"/>
          <p:cNvSpPr/>
          <p:nvPr/>
        </p:nvSpPr>
        <p:spPr>
          <a:xfrm>
            <a:off x="6263640" y="1325880"/>
            <a:ext cx="5714640" cy="14626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99" name="TextBox 9"/>
          <p:cNvSpPr/>
          <p:nvPr/>
        </p:nvSpPr>
        <p:spPr>
          <a:xfrm>
            <a:off x="6464880" y="1490400"/>
            <a:ext cx="530316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Status goes back</a:t>
            </a:r>
            <a:endParaRPr lang="en-US" sz="1600" b="0" u="none" strike="noStrike">
              <a:solidFill>
                <a:srgbClr val="000000"/>
              </a:solidFill>
              <a:effectLst/>
              <a:uFillTx/>
              <a:latin typeface="Arial"/>
            </a:endParaRPr>
          </a:p>
        </p:txBody>
      </p:sp>
      <p:sp>
        <p:nvSpPr>
          <p:cNvPr id="300" name="TextBox 10"/>
          <p:cNvSpPr/>
          <p:nvPr/>
        </p:nvSpPr>
        <p:spPr>
          <a:xfrm>
            <a:off x="6464880" y="1965960"/>
            <a:ext cx="530316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Live, filtered, removed, or account banned, on the same CRM task.</a:t>
            </a:r>
            <a:endParaRPr lang="en-US" sz="1400" b="0" u="none" strike="noStrike">
              <a:solidFill>
                <a:srgbClr val="000000"/>
              </a:solidFill>
              <a:effectLst/>
              <a:uFillTx/>
              <a:latin typeface="Arial"/>
            </a:endParaRPr>
          </a:p>
        </p:txBody>
      </p:sp>
      <p:sp>
        <p:nvSpPr>
          <p:cNvPr id="301" name="Rounded Rectangle 11"/>
          <p:cNvSpPr/>
          <p:nvPr/>
        </p:nvSpPr>
        <p:spPr>
          <a:xfrm>
            <a:off x="365760" y="2926080"/>
            <a:ext cx="5714640" cy="14626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2" name="TextBox 12"/>
          <p:cNvSpPr/>
          <p:nvPr/>
        </p:nvSpPr>
        <p:spPr>
          <a:xfrm>
            <a:off x="567000" y="3090600"/>
            <a:ext cx="530316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Warm-up is a CRM status</a:t>
            </a:r>
            <a:endParaRPr lang="en-US" sz="1600" b="0" u="none" strike="noStrike">
              <a:solidFill>
                <a:srgbClr val="000000"/>
              </a:solidFill>
              <a:effectLst/>
              <a:uFillTx/>
              <a:latin typeface="Arial"/>
            </a:endParaRPr>
          </a:p>
        </p:txBody>
      </p:sp>
      <p:sp>
        <p:nvSpPr>
          <p:cNvPr id="303" name="TextBox 13"/>
          <p:cNvSpPr/>
          <p:nvPr/>
        </p:nvSpPr>
        <p:spPr>
          <a:xfrm>
            <a:off x="567000" y="3566160"/>
            <a:ext cx="530316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A new account cannot be given client work until the 7 days and the karma gate are passed.</a:t>
            </a:r>
            <a:endParaRPr lang="en-US" sz="1400" b="0" u="none" strike="noStrike">
              <a:solidFill>
                <a:srgbClr val="000000"/>
              </a:solidFill>
              <a:effectLst/>
              <a:uFillTx/>
              <a:latin typeface="Arial"/>
            </a:endParaRPr>
          </a:p>
        </p:txBody>
      </p:sp>
      <p:sp>
        <p:nvSpPr>
          <p:cNvPr id="304" name="Rounded Rectangle 14"/>
          <p:cNvSpPr/>
          <p:nvPr/>
        </p:nvSpPr>
        <p:spPr>
          <a:xfrm>
            <a:off x="6263640" y="2926080"/>
            <a:ext cx="5714640" cy="14626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5" name="TextBox 15"/>
          <p:cNvSpPr/>
          <p:nvPr/>
        </p:nvSpPr>
        <p:spPr>
          <a:xfrm>
            <a:off x="6464880" y="3090600"/>
            <a:ext cx="530316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One report per client</a:t>
            </a:r>
            <a:endParaRPr lang="en-US" sz="1600" b="0" u="none" strike="noStrike">
              <a:solidFill>
                <a:srgbClr val="000000"/>
              </a:solidFill>
              <a:effectLst/>
              <a:uFillTx/>
              <a:latin typeface="Arial"/>
            </a:endParaRPr>
          </a:p>
        </p:txBody>
      </p:sp>
      <p:sp>
        <p:nvSpPr>
          <p:cNvPr id="306" name="TextBox 16"/>
          <p:cNvSpPr/>
          <p:nvPr/>
        </p:nvSpPr>
        <p:spPr>
          <a:xfrm>
            <a:off x="6464880" y="3566160"/>
            <a:ext cx="530316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Tasks assigned, comments live, posts live, accounts banned, for that pod.</a:t>
            </a:r>
            <a:endParaRPr lang="en-US" sz="1400" b="0" u="none" strike="noStrike">
              <a:solidFill>
                <a:srgbClr val="000000"/>
              </a:solidFill>
              <a:effectLst/>
              <a:uFillTx/>
              <a:latin typeface="Arial"/>
            </a:endParaRPr>
          </a:p>
        </p:txBody>
      </p:sp>
      <p:sp>
        <p:nvSpPr>
          <p:cNvPr id="307" name="Rounded Rectangle 17"/>
          <p:cNvSpPr/>
          <p:nvPr/>
        </p:nvSpPr>
        <p:spPr>
          <a:xfrm>
            <a:off x="365760" y="4526280"/>
            <a:ext cx="5714640" cy="14626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8" name="TextBox 18"/>
          <p:cNvSpPr/>
          <p:nvPr/>
        </p:nvSpPr>
        <p:spPr>
          <a:xfrm>
            <a:off x="567000" y="4690800"/>
            <a:ext cx="530316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Tie a live thread to Monitor</a:t>
            </a:r>
            <a:endParaRPr lang="en-US" sz="1600" b="0" u="none" strike="noStrike">
              <a:solidFill>
                <a:srgbClr val="000000"/>
              </a:solidFill>
              <a:effectLst/>
              <a:uFillTx/>
              <a:latin typeface="Arial"/>
            </a:endParaRPr>
          </a:p>
        </p:txBody>
      </p:sp>
      <p:sp>
        <p:nvSpPr>
          <p:cNvPr id="309" name="TextBox 19"/>
          <p:cNvSpPr/>
          <p:nvPr/>
        </p:nvSpPr>
        <p:spPr>
          <a:xfrm>
            <a:off x="567000" y="5166360"/>
            <a:ext cx="530316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See whether the threads that stayed up show up later in that client’s citations.</a:t>
            </a:r>
            <a:endParaRPr lang="en-US" sz="1400" b="0" u="none" strike="noStrike">
              <a:solidFill>
                <a:srgbClr val="000000"/>
              </a:solidFill>
              <a:effectLst/>
              <a:uFillTx/>
              <a:latin typeface="Arial"/>
            </a:endParaRPr>
          </a:p>
        </p:txBody>
      </p:sp>
      <p:sp>
        <p:nvSpPr>
          <p:cNvPr id="310" name="Rounded Rectangle 20"/>
          <p:cNvSpPr/>
          <p:nvPr/>
        </p:nvSpPr>
        <p:spPr>
          <a:xfrm>
            <a:off x="6263640" y="4526280"/>
            <a:ext cx="5714640" cy="146268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1" name="TextBox 21"/>
          <p:cNvSpPr/>
          <p:nvPr/>
        </p:nvSpPr>
        <p:spPr>
          <a:xfrm>
            <a:off x="6464880" y="4690800"/>
            <a:ext cx="530316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1" u="none" strike="noStrike">
                <a:solidFill>
                  <a:srgbClr val="122B45"/>
                </a:solidFill>
                <a:effectLst/>
                <a:uFillTx/>
                <a:latin typeface="Calibri"/>
              </a:rPr>
              <a:t>The other publisher work</a:t>
            </a:r>
            <a:endParaRPr lang="en-US" sz="1600" b="0" u="none" strike="noStrike">
              <a:solidFill>
                <a:srgbClr val="000000"/>
              </a:solidFill>
              <a:effectLst/>
              <a:uFillTx/>
              <a:latin typeface="Arial"/>
            </a:endParaRPr>
          </a:p>
        </p:txBody>
      </p:sp>
      <p:sp>
        <p:nvSpPr>
          <p:cNvPr id="312" name="TextBox 22"/>
          <p:cNvSpPr/>
          <p:nvPr/>
        </p:nvSpPr>
        <p:spPr>
          <a:xfrm>
            <a:off x="6464880" y="5166360"/>
            <a:ext cx="5303160" cy="63972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400" b="0" u="none" strike="noStrike">
                <a:solidFill>
                  <a:srgbClr val="1C2430"/>
                </a:solidFill>
                <a:effectLst/>
                <a:uFillTx/>
                <a:latin typeface="Calibri"/>
              </a:rPr>
              <a:t>Reviews, listicles, and publication mentions can use the same job: assign, place, record, learn.</a:t>
            </a:r>
            <a:endParaRPr lang="en-US" sz="1400" b="0" u="none" strike="noStrike">
              <a:solidFill>
                <a:srgbClr val="000000"/>
              </a:solidFill>
              <a:effectLst/>
              <a:uFillTx/>
              <a:latin typeface="Arial"/>
            </a:endParaRPr>
          </a:p>
        </p:txBody>
      </p:sp>
      <p:sp>
        <p:nvSpPr>
          <p:cNvPr id="313" name="TextBox 23"/>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314" name="TextBox 24"/>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11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Rectangle 1"/>
          <p:cNvSpPr/>
          <p:nvPr/>
        </p:nvSpPr>
        <p:spPr>
          <a:xfrm>
            <a:off x="0" y="0"/>
            <a:ext cx="12191400" cy="6857640"/>
          </a:xfrm>
          <a:prstGeom prst="rect">
            <a:avLst/>
          </a:prstGeom>
          <a:solidFill>
            <a:srgbClr val="F6F4EF"/>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6" name="Rectangle 2"/>
          <p:cNvSpPr/>
          <p:nvPr/>
        </p:nvSpPr>
        <p:spPr>
          <a:xfrm>
            <a:off x="0" y="0"/>
            <a:ext cx="109440" cy="6857640"/>
          </a:xfrm>
          <a:prstGeom prst="rect">
            <a:avLst/>
          </a:prstGeom>
          <a:solidFill>
            <a:srgbClr val="122B4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17" name="TextBox 3"/>
          <p:cNvSpPr/>
          <p:nvPr/>
        </p:nvSpPr>
        <p:spPr>
          <a:xfrm>
            <a:off x="438840" y="237600"/>
            <a:ext cx="111553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3000" b="1" u="none" strike="noStrike">
                <a:solidFill>
                  <a:srgbClr val="122B45"/>
                </a:solidFill>
                <a:effectLst/>
                <a:uFillTx/>
                <a:latin typeface="Calibri"/>
              </a:rPr>
              <a:t>The ask</a:t>
            </a:r>
            <a:endParaRPr lang="en-US" sz="3000" b="0" u="none" strike="noStrike">
              <a:solidFill>
                <a:srgbClr val="000000"/>
              </a:solidFill>
              <a:effectLst/>
              <a:uFillTx/>
              <a:latin typeface="Arial"/>
            </a:endParaRPr>
          </a:p>
        </p:txBody>
      </p:sp>
      <p:sp>
        <p:nvSpPr>
          <p:cNvPr id="318" name="TextBox 4"/>
          <p:cNvSpPr/>
          <p:nvPr/>
        </p:nvSpPr>
        <p:spPr>
          <a:xfrm>
            <a:off x="438840" y="868680"/>
            <a:ext cx="1097244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000" b="0" u="none" strike="noStrike">
                <a:solidFill>
                  <a:srgbClr val="1C2430"/>
                </a:solidFill>
                <a:effectLst/>
                <a:uFillTx/>
                <a:latin typeface="Calibri"/>
              </a:rPr>
              <a:t>Connect CRM on one pod. Let the warm-up and the model run for real.</a:t>
            </a:r>
            <a:endParaRPr lang="en-US" sz="2000" b="0" u="none" strike="noStrike">
              <a:solidFill>
                <a:srgbClr val="000000"/>
              </a:solidFill>
              <a:effectLst/>
              <a:uFillTx/>
              <a:latin typeface="Arial"/>
            </a:endParaRPr>
          </a:p>
        </p:txBody>
      </p:sp>
      <p:sp>
        <p:nvSpPr>
          <p:cNvPr id="319" name="Rounded Rectangle 5"/>
          <p:cNvSpPr/>
          <p:nvPr/>
        </p:nvSpPr>
        <p:spPr>
          <a:xfrm>
            <a:off x="365760" y="1463040"/>
            <a:ext cx="2815920" cy="19656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0" name="TextBox 6"/>
          <p:cNvSpPr/>
          <p:nvPr/>
        </p:nvSpPr>
        <p:spPr>
          <a:xfrm>
            <a:off x="530280" y="1645920"/>
            <a:ext cx="24685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C45C26"/>
                </a:solidFill>
                <a:effectLst/>
                <a:uFillTx/>
                <a:latin typeface="Calibri"/>
              </a:rPr>
              <a:t>30 days</a:t>
            </a:r>
            <a:endParaRPr lang="en-US" sz="2200" b="0" u="none" strike="noStrike">
              <a:solidFill>
                <a:srgbClr val="000000"/>
              </a:solidFill>
              <a:effectLst/>
              <a:uFillTx/>
              <a:latin typeface="Arial"/>
            </a:endParaRPr>
          </a:p>
        </p:txBody>
      </p:sp>
      <p:sp>
        <p:nvSpPr>
          <p:cNvPr id="321" name="TextBox 7"/>
          <p:cNvSpPr/>
          <p:nvPr/>
        </p:nvSpPr>
        <p:spPr>
          <a:xfrm>
            <a:off x="530280" y="2240280"/>
            <a:ext cx="2468520" cy="9140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One client pod.</a:t>
            </a:r>
            <a:endParaRPr lang="en-US" sz="1600" b="0" u="none" strike="noStrike">
              <a:solidFill>
                <a:srgbClr val="000000"/>
              </a:solidFill>
              <a:effectLst/>
              <a:uFillTx/>
              <a:latin typeface="Arial"/>
            </a:endParaRPr>
          </a:p>
        </p:txBody>
      </p:sp>
      <p:sp>
        <p:nvSpPr>
          <p:cNvPr id="322" name="Rounded Rectangle 8"/>
          <p:cNvSpPr/>
          <p:nvPr/>
        </p:nvSpPr>
        <p:spPr>
          <a:xfrm>
            <a:off x="3310200" y="1463040"/>
            <a:ext cx="2815920" cy="19656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3" name="TextBox 9"/>
          <p:cNvSpPr/>
          <p:nvPr/>
        </p:nvSpPr>
        <p:spPr>
          <a:xfrm>
            <a:off x="3474720" y="1645920"/>
            <a:ext cx="24685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C45C26"/>
                </a:solidFill>
                <a:effectLst/>
                <a:uFillTx/>
                <a:latin typeface="Calibri"/>
              </a:rPr>
              <a:t>CRM in</a:t>
            </a:r>
            <a:endParaRPr lang="en-US" sz="2200" b="0" u="none" strike="noStrike">
              <a:solidFill>
                <a:srgbClr val="000000"/>
              </a:solidFill>
              <a:effectLst/>
              <a:uFillTx/>
              <a:latin typeface="Arial"/>
            </a:endParaRPr>
          </a:p>
        </p:txBody>
      </p:sp>
      <p:sp>
        <p:nvSpPr>
          <p:cNvPr id="324" name="TextBox 10"/>
          <p:cNvSpPr/>
          <p:nvPr/>
        </p:nvSpPr>
        <p:spPr>
          <a:xfrm>
            <a:off x="3474720" y="2240280"/>
            <a:ext cx="2468520" cy="9140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The comment and the post come from CRM.</a:t>
            </a:r>
            <a:endParaRPr lang="en-US" sz="1600" b="0" u="none" strike="noStrike">
              <a:solidFill>
                <a:srgbClr val="000000"/>
              </a:solidFill>
              <a:effectLst/>
              <a:uFillTx/>
              <a:latin typeface="Arial"/>
            </a:endParaRPr>
          </a:p>
        </p:txBody>
      </p:sp>
      <p:sp>
        <p:nvSpPr>
          <p:cNvPr id="325" name="Rounded Rectangle 11"/>
          <p:cNvSpPr/>
          <p:nvPr/>
        </p:nvSpPr>
        <p:spPr>
          <a:xfrm>
            <a:off x="6254640" y="1463040"/>
            <a:ext cx="2815920" cy="19656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6" name="TextBox 12"/>
          <p:cNvSpPr/>
          <p:nvPr/>
        </p:nvSpPr>
        <p:spPr>
          <a:xfrm>
            <a:off x="6419160" y="1645920"/>
            <a:ext cx="24685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C45C26"/>
                </a:solidFill>
                <a:effectLst/>
                <a:uFillTx/>
                <a:latin typeface="Calibri"/>
              </a:rPr>
              <a:t>Rules on</a:t>
            </a:r>
            <a:endParaRPr lang="en-US" sz="2200" b="0" u="none" strike="noStrike">
              <a:solidFill>
                <a:srgbClr val="000000"/>
              </a:solidFill>
              <a:effectLst/>
              <a:uFillTx/>
              <a:latin typeface="Arial"/>
            </a:endParaRPr>
          </a:p>
        </p:txBody>
      </p:sp>
      <p:sp>
        <p:nvSpPr>
          <p:cNvPr id="327" name="TextBox 13"/>
          <p:cNvSpPr/>
          <p:nvPr/>
        </p:nvSpPr>
        <p:spPr>
          <a:xfrm>
            <a:off x="6419160" y="2240280"/>
            <a:ext cx="2468520" cy="9140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7-day warm-up, karma 10 to post, 48-hour caps.</a:t>
            </a:r>
            <a:endParaRPr lang="en-US" sz="1600" b="0" u="none" strike="noStrike">
              <a:solidFill>
                <a:srgbClr val="000000"/>
              </a:solidFill>
              <a:effectLst/>
              <a:uFillTx/>
              <a:latin typeface="Arial"/>
            </a:endParaRPr>
          </a:p>
        </p:txBody>
      </p:sp>
      <p:sp>
        <p:nvSpPr>
          <p:cNvPr id="328" name="Rounded Rectangle 14"/>
          <p:cNvSpPr/>
          <p:nvPr/>
        </p:nvSpPr>
        <p:spPr>
          <a:xfrm>
            <a:off x="9198720" y="1463040"/>
            <a:ext cx="2815920" cy="1965600"/>
          </a:xfrm>
          <a:prstGeom prst="roundRect">
            <a:avLst>
              <a:gd name="adj" fmla="val 8000"/>
            </a:avLst>
          </a:prstGeom>
          <a:solidFill>
            <a:srgbClr val="FFFFFF"/>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29" name="TextBox 15"/>
          <p:cNvSpPr/>
          <p:nvPr/>
        </p:nvSpPr>
        <p:spPr>
          <a:xfrm>
            <a:off x="9363600" y="1645920"/>
            <a:ext cx="2468520" cy="4568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2200" b="1" u="none" strike="noStrike">
                <a:solidFill>
                  <a:srgbClr val="C45C26"/>
                </a:solidFill>
                <a:effectLst/>
                <a:uFillTx/>
                <a:latin typeface="Calibri"/>
              </a:rPr>
              <a:t>Day 30</a:t>
            </a:r>
            <a:endParaRPr lang="en-US" sz="2200" b="0" u="none" strike="noStrike">
              <a:solidFill>
                <a:srgbClr val="000000"/>
              </a:solidFill>
              <a:effectLst/>
              <a:uFillTx/>
              <a:latin typeface="Arial"/>
            </a:endParaRPr>
          </a:p>
        </p:txBody>
      </p:sp>
      <p:sp>
        <p:nvSpPr>
          <p:cNvPr id="330" name="TextBox 16"/>
          <p:cNvSpPr/>
          <p:nvPr/>
        </p:nvSpPr>
        <p:spPr>
          <a:xfrm>
            <a:off x="9363600" y="2240280"/>
            <a:ext cx="2468520" cy="91404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1C2430"/>
                </a:solidFill>
                <a:effectLst/>
                <a:uFillTx/>
                <a:latin typeface="Calibri"/>
              </a:rPr>
              <a:t>Ban rate, removal rate, and tasks that stayed live, against today.</a:t>
            </a:r>
            <a:endParaRPr lang="en-US" sz="1600" b="0" u="none" strike="noStrike">
              <a:solidFill>
                <a:srgbClr val="000000"/>
              </a:solidFill>
              <a:effectLst/>
              <a:uFillTx/>
              <a:latin typeface="Arial"/>
            </a:endParaRPr>
          </a:p>
        </p:txBody>
      </p:sp>
      <p:sp>
        <p:nvSpPr>
          <p:cNvPr id="331" name="Rounded Rectangle 17"/>
          <p:cNvSpPr/>
          <p:nvPr/>
        </p:nvSpPr>
        <p:spPr>
          <a:xfrm>
            <a:off x="365760" y="3703320"/>
            <a:ext cx="11429640" cy="2422800"/>
          </a:xfrm>
          <a:prstGeom prst="roundRect">
            <a:avLst>
              <a:gd name="adj" fmla="val 8000"/>
            </a:avLst>
          </a:prstGeom>
          <a:solidFill>
            <a:srgbClr val="122B45"/>
          </a:solidFill>
          <a:ln>
            <a:solidFill>
              <a:srgbClr val="E2DCD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32" name="TextBox 18"/>
          <p:cNvSpPr/>
          <p:nvPr/>
        </p:nvSpPr>
        <p:spPr>
          <a:xfrm>
            <a:off x="685800" y="3977640"/>
            <a:ext cx="10789560" cy="3654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600" b="0" u="none" strike="noStrike">
                <a:solidFill>
                  <a:srgbClr val="E8B896"/>
                </a:solidFill>
                <a:effectLst/>
                <a:uFillTx/>
                <a:latin typeface="Calibri"/>
              </a:rPr>
              <a:t>If those three move the right way</a:t>
            </a:r>
            <a:endParaRPr lang="en-US" sz="1600" b="0" u="none" strike="noStrike">
              <a:solidFill>
                <a:srgbClr val="000000"/>
              </a:solidFill>
              <a:effectLst/>
              <a:uFillTx/>
              <a:latin typeface="Arial"/>
            </a:endParaRPr>
          </a:p>
        </p:txBody>
      </p:sp>
      <p:sp>
        <p:nvSpPr>
          <p:cNvPr id="333" name="TextBox 19"/>
          <p:cNvSpPr/>
          <p:nvPr/>
        </p:nvSpPr>
        <p:spPr>
          <a:xfrm>
            <a:off x="685800" y="4480560"/>
            <a:ext cx="10789560" cy="1188360"/>
          </a:xfrm>
          <a:prstGeom prst="rect">
            <a:avLst/>
          </a:prstGeom>
          <a:noFill/>
          <a:ln w="0">
            <a:noFill/>
          </a:ln>
        </p:spPr>
        <p:style>
          <a:lnRef idx="0"/>
          <a:fillRef idx="0"/>
          <a:effectRef idx="0"/>
          <a:fontRef idx="minor"/>
        </p:style>
        <p:txBody>
          <a:bodyPr lIns="90000" tIns="45000" rIns="90000" bIns="45000" anchor="t">
            <a:noAutofit/>
          </a:bodyPr>
          <a:p>
            <a:r>
              <a:rPr lang="en-US" sz="2600" b="1" u="none" strike="noStrike">
                <a:solidFill>
                  <a:srgbClr val="FFFFFF"/>
                </a:solidFill>
                <a:effectLst/>
                <a:uFillTx/>
                <a:latin typeface="Calibri"/>
              </a:rPr>
              <a:t>This becomes how Reddit tasks from CRM get published,</a:t>
            </a:r>
            <a:endParaRPr lang="en-US" sz="2600" b="0" u="none" strike="noStrike">
              <a:solidFill>
                <a:srgbClr val="000000"/>
              </a:solidFill>
              <a:effectLst/>
              <a:uFillTx/>
              <a:latin typeface="Arial"/>
            </a:endParaRPr>
          </a:p>
          <a:p>
            <a:pPr defTabSz="457200">
              <a:lnSpc>
                <a:spcPct val="100000"/>
              </a:lnSpc>
            </a:pPr>
            <a:r>
              <a:rPr lang="en-US" sz="2600" b="1" u="none" strike="noStrike">
                <a:solidFill>
                  <a:srgbClr val="FFFFFF"/>
                </a:solidFill>
                <a:effectLst/>
                <a:uFillTx/>
                <a:latin typeface="Calibri"/>
              </a:rPr>
              <a:t>and the model keeps learning from every task after that.</a:t>
            </a:r>
            <a:endParaRPr lang="en-US" sz="2600" b="0" u="none" strike="noStrike">
              <a:solidFill>
                <a:srgbClr val="000000"/>
              </a:solidFill>
              <a:effectLst/>
              <a:uFillTx/>
              <a:latin typeface="Arial"/>
            </a:endParaRPr>
          </a:p>
        </p:txBody>
      </p:sp>
      <p:sp>
        <p:nvSpPr>
          <p:cNvPr id="334" name="TextBox 20"/>
          <p:cNvSpPr/>
          <p:nvPr/>
        </p:nvSpPr>
        <p:spPr>
          <a:xfrm>
            <a:off x="411480" y="6510600"/>
            <a:ext cx="7314840" cy="255600"/>
          </a:xfrm>
          <a:prstGeom prst="rect">
            <a:avLst/>
          </a:prstGeom>
          <a:noFill/>
          <a:ln w="0">
            <a:noFill/>
          </a:ln>
        </p:spPr>
        <p:style>
          <a:lnRef idx="0"/>
          <a:fillRef idx="0"/>
          <a:effectRef idx="0"/>
          <a:fontRef idx="minor"/>
        </p:style>
        <p:txBody>
          <a:bodyPr lIns="90000" tIns="45000" rIns="90000" bIns="45000" anchor="t">
            <a:noAutofit/>
          </a:bodyPr>
          <a:p>
            <a:pPr defTabSz="457200">
              <a:lnSpc>
                <a:spcPct val="100000"/>
              </a:lnSpc>
            </a:pPr>
            <a:r>
              <a:rPr lang="en-US" sz="1200" b="0" u="none" strike="noStrike">
                <a:solidFill>
                  <a:srgbClr val="5C6B7A"/>
                </a:solidFill>
                <a:effectLst/>
                <a:uFillTx/>
                <a:latin typeface="Calibri"/>
              </a:rPr>
              <a:t>Klarivo  ·  Internal</a:t>
            </a:r>
            <a:endParaRPr lang="en-US" sz="1200" b="0" u="none" strike="noStrike">
              <a:solidFill>
                <a:srgbClr val="000000"/>
              </a:solidFill>
              <a:effectLst/>
              <a:uFillTx/>
              <a:latin typeface="Arial"/>
            </a:endParaRPr>
          </a:p>
        </p:txBody>
      </p:sp>
      <p:sp>
        <p:nvSpPr>
          <p:cNvPr id="335" name="TextBox 21"/>
          <p:cNvSpPr/>
          <p:nvPr/>
        </p:nvSpPr>
        <p:spPr>
          <a:xfrm>
            <a:off x="10241280" y="6510600"/>
            <a:ext cx="1554120" cy="255600"/>
          </a:xfrm>
          <a:prstGeom prst="rect">
            <a:avLst/>
          </a:prstGeom>
          <a:noFill/>
          <a:ln w="0">
            <a:noFill/>
          </a:ln>
        </p:spPr>
        <p:style>
          <a:lnRef idx="0"/>
          <a:fillRef idx="0"/>
          <a:effectRef idx="0"/>
          <a:fontRef idx="minor"/>
        </p:style>
        <p:txBody>
          <a:bodyPr lIns="90000" tIns="45000" rIns="90000" bIns="45000" anchor="t">
            <a:noAutofit/>
          </a:bodyPr>
          <a:p>
            <a:pPr algn="r" defTabSz="457200">
              <a:lnSpc>
                <a:spcPct val="100000"/>
              </a:lnSpc>
            </a:pPr>
            <a:r>
              <a:rPr lang="en-US" sz="1200" b="0" u="none" strike="noStrike">
                <a:solidFill>
                  <a:srgbClr val="5C6B7A"/>
                </a:solidFill>
                <a:effectLst/>
                <a:uFillTx/>
                <a:latin typeface="Calibri"/>
              </a:rPr>
              <a:t>12  /  12</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LibreOffice/26.2.5.2$Linux_X86_64 LibreOffice_project/620$Build-2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Klarivo</dc:creator>
  <dc:description>generated using python-pptx</dc:description>
  <dc:language>en-US</dc:language>
  <cp:lastModifiedBy>Steve Canny</cp:lastModifiedBy>
  <dcterms:modified xsi:type="dcterms:W3CDTF">2013-01-27T09:15:58Z</dcterms:modified>
  <cp:revision>1</cp:revision>
  <dc:subject/>
  <dc:title>Reddit automation for CRM</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